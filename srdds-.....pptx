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00" r:id="rId1"/>
  </p:sldMasterIdLst>
  <p:sldIdLst>
    <p:sldId id="257" r:id="rId2"/>
    <p:sldId id="283" r:id="rId3"/>
    <p:sldId id="295" r:id="rId4"/>
    <p:sldId id="284" r:id="rId5"/>
    <p:sldId id="259" r:id="rId6"/>
    <p:sldId id="261" r:id="rId7"/>
    <p:sldId id="262" r:id="rId8"/>
    <p:sldId id="264" r:id="rId9"/>
    <p:sldId id="265" r:id="rId10"/>
    <p:sldId id="266" r:id="rId11"/>
    <p:sldId id="289" r:id="rId12"/>
    <p:sldId id="290" r:id="rId13"/>
    <p:sldId id="296" r:id="rId14"/>
    <p:sldId id="291" r:id="rId15"/>
    <p:sldId id="298" r:id="rId16"/>
    <p:sldId id="299" r:id="rId17"/>
    <p:sldId id="293" r:id="rId18"/>
    <p:sldId id="268" r:id="rId19"/>
    <p:sldId id="269" r:id="rId20"/>
    <p:sldId id="270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94" r:id="rId29"/>
    <p:sldId id="280" r:id="rId30"/>
    <p:sldId id="281" r:id="rId31"/>
    <p:sldId id="282" r:id="rId32"/>
    <p:sldId id="285" r:id="rId33"/>
    <p:sldId id="286" r:id="rId34"/>
    <p:sldId id="300" r:id="rId35"/>
    <p:sldId id="287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6" y="2099733"/>
            <a:ext cx="8825659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6" y="4777380"/>
            <a:ext cx="882565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7" y="1792226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9" y="3227836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3" y="295733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854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6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078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7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62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831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5" y="2603504"/>
            <a:ext cx="4825159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5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68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6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5" y="3179766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5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5" y="3179766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676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6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473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286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7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5" y="1447800"/>
            <a:ext cx="5190067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129284"/>
            <a:ext cx="2793159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860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7" y="1693337"/>
            <a:ext cx="3865135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3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710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6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5536665"/>
            <a:ext cx="8825659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404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7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6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7" y="60733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60" y="2613788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7" y="982134"/>
            <a:ext cx="8453907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7" y="5029203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34221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6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4288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2"/>
            <a:ext cx="314187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5" y="3179768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4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4" y="3179767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6" y="2603501"/>
            <a:ext cx="314573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6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7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7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7063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532844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5" y="5109106"/>
            <a:ext cx="3050439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7" y="4532848"/>
            <a:ext cx="3050439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4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4" y="5109105"/>
            <a:ext cx="3050439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8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7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3" y="2569637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2" y="6391842"/>
            <a:ext cx="3644283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4456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6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42" y="6391842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8182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6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7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7" y="6391842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160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6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6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7" y="6391842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2" y="6391842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3" y="295733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282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  <p:sldLayoutId id="2147483812" r:id="rId12"/>
    <p:sldLayoutId id="2147483813" r:id="rId13"/>
    <p:sldLayoutId id="2147483814" r:id="rId14"/>
    <p:sldLayoutId id="2147483815" r:id="rId15"/>
    <p:sldLayoutId id="2147483816" r:id="rId16"/>
    <p:sldLayoutId id="2147483817" r:id="rId17"/>
  </p:sldLayoutIdLst>
  <p:hf sldNum="0" hdr="0" ftr="0" dt="0"/>
  <p:txStyles>
    <p:titleStyle>
      <a:lvl1pPr algn="l" defTabSz="457189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891" indent="-342891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32" indent="-28574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971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160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349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37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BA2AEC6-425E-454B-7985-BDC7352178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9912" y="105417"/>
            <a:ext cx="8825659" cy="2677648"/>
          </a:xfrm>
        </p:spPr>
        <p:txBody>
          <a:bodyPr wrap="square"/>
          <a:lstStyle/>
          <a:p>
            <a:r>
              <a:rPr lang="en-IN" sz="3600" b="1" dirty="0">
                <a:solidFill>
                  <a:schemeClr val="bg1"/>
                </a:solidFill>
                <a:latin typeface="Segoe UI" panose="020B0502040204020203" pitchFamily="34" charset="0"/>
              </a:rPr>
              <a:t>SUSTAINED RELEASE DRUG DELIVERY SYSTEM </a:t>
            </a:r>
            <a:endParaRPr lang="en-US" sz="3600" b="1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ABDF4-CB0F-31BD-D12E-F111711C7C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3188517"/>
            <a:ext cx="8825659" cy="2450283"/>
          </a:xfrm>
        </p:spPr>
        <p:txBody>
          <a:bodyPr>
            <a:normAutofit fontScale="85000" lnSpcReduction="10000"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   Presented by :</a:t>
            </a:r>
            <a:endParaRPr lang="en-IN" dirty="0">
              <a:solidFill>
                <a:schemeClr val="bg2"/>
              </a:solidFill>
            </a:endParaRPr>
          </a:p>
          <a:p>
            <a:r>
              <a:rPr lang="en-IN" b="1" dirty="0">
                <a:solidFill>
                  <a:schemeClr val="bg2"/>
                </a:solidFill>
              </a:rPr>
              <a:t>   Manisha pare.                                                                                  Under the guidance of :</a:t>
            </a:r>
          </a:p>
          <a:p>
            <a:r>
              <a:rPr lang="en-IN" b="1" dirty="0">
                <a:solidFill>
                  <a:schemeClr val="bg2"/>
                </a:solidFill>
              </a:rPr>
              <a:t>   M . Pharmacy (1st year).                                                                Vijay Bhaskar Desai                                               </a:t>
            </a:r>
          </a:p>
          <a:p>
            <a:r>
              <a:rPr lang="en-IN" b="1" dirty="0">
                <a:solidFill>
                  <a:schemeClr val="bg2"/>
                </a:solidFill>
              </a:rPr>
              <a:t>   Dep. Of Pharmaceutical.                                                                  M . Pharma (PhD)                                                          </a:t>
            </a:r>
          </a:p>
          <a:p>
            <a:r>
              <a:rPr lang="en-IN" b="1" dirty="0">
                <a:solidFill>
                  <a:schemeClr val="bg2"/>
                </a:solidFill>
              </a:rPr>
              <a:t>   Technology </a:t>
            </a:r>
          </a:p>
          <a:p>
            <a:r>
              <a:rPr lang="en-IN" b="1" dirty="0">
                <a:solidFill>
                  <a:schemeClr val="bg2"/>
                </a:solidFill>
              </a:rPr>
              <a:t>   H.k.e,COP ,GLB </a:t>
            </a:r>
          </a:p>
          <a:p>
            <a:r>
              <a:rPr lang="en-IN" b="1" dirty="0">
                <a:solidFill>
                  <a:schemeClr val="bg2"/>
                </a:solidFill>
              </a:rPr>
              <a:t>       </a:t>
            </a:r>
          </a:p>
          <a:p>
            <a:endParaRPr lang="en-IN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79252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0D7E6-C971-F681-3C99-30681381E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Contents: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3E78C-8B78-8BBC-5E40-890D40138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2" y="2529226"/>
            <a:ext cx="8825659" cy="3994863"/>
          </a:xfrm>
        </p:spPr>
        <p:txBody>
          <a:bodyPr>
            <a:noAutofit/>
          </a:bodyPr>
          <a:lstStyle/>
          <a:p>
            <a:pPr algn="just"/>
            <a:r>
              <a:rPr lang="en-IN" sz="2400" b="1" dirty="0"/>
              <a:t>Introduction </a:t>
            </a:r>
          </a:p>
          <a:p>
            <a:pPr algn="just"/>
            <a:r>
              <a:rPr lang="en-IN" sz="2400" b="1" dirty="0"/>
              <a:t>Definition </a:t>
            </a:r>
          </a:p>
          <a:p>
            <a:pPr algn="just"/>
            <a:r>
              <a:rPr lang="en-IN" sz="2400" b="1" dirty="0"/>
              <a:t>Objectives of sustained release system </a:t>
            </a:r>
          </a:p>
          <a:p>
            <a:pPr algn="just"/>
            <a:r>
              <a:rPr lang="en-IN" sz="2400" b="1" dirty="0"/>
              <a:t>Ideal characteristics of drugs suitable for SRDDS </a:t>
            </a:r>
          </a:p>
          <a:p>
            <a:pPr algn="just"/>
            <a:r>
              <a:rPr lang="en-IN" sz="2400" b="1" dirty="0"/>
              <a:t>Drugs unsuitable for SRDDS </a:t>
            </a:r>
          </a:p>
          <a:p>
            <a:pPr algn="just"/>
            <a:r>
              <a:rPr lang="en-IN" sz="2400" b="1" dirty="0"/>
              <a:t>Principle of SRDDS </a:t>
            </a:r>
          </a:p>
          <a:p>
            <a:pPr algn="just"/>
            <a:r>
              <a:rPr lang="en-IN" sz="2400" b="1" dirty="0"/>
              <a:t>Physicochemical factors </a:t>
            </a:r>
            <a:r>
              <a:rPr lang="en-IN" sz="2400" b="1" dirty="0">
                <a:solidFill>
                  <a:schemeClr val="tx2"/>
                </a:solidFill>
              </a:rPr>
              <a:t>influencing SRDDS </a:t>
            </a:r>
            <a:endParaRPr lang="en-IN" sz="2400" b="1" dirty="0"/>
          </a:p>
          <a:p>
            <a:pPr algn="just"/>
            <a:r>
              <a:rPr lang="en-IN" sz="2400" b="1" dirty="0"/>
              <a:t>Biological factors influencing SRDDS </a:t>
            </a:r>
          </a:p>
        </p:txBody>
      </p:sp>
    </p:spTree>
    <p:extLst>
      <p:ext uri="{BB962C8B-B14F-4D97-AF65-F5344CB8AC3E}">
        <p14:creationId xmlns:p14="http://schemas.microsoft.com/office/powerpoint/2010/main" val="1063677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C899F-5B0D-C644-2BE2-D3D65CF45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Contents :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36C8D-8737-D068-3DC9-755FED924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400" b="1" dirty="0"/>
              <a:t>Physicochemical approaches for SRDDS</a:t>
            </a:r>
          </a:p>
          <a:p>
            <a:r>
              <a:rPr lang="en-IN" sz="2400" b="1" dirty="0"/>
              <a:t>Biological approaches for SRDDS </a:t>
            </a:r>
          </a:p>
          <a:p>
            <a:r>
              <a:rPr lang="en-IN" sz="2400" b="1" dirty="0"/>
              <a:t>Applications of SRDDS </a:t>
            </a:r>
          </a:p>
          <a:p>
            <a:r>
              <a:rPr lang="en-IN" sz="2400" b="1" dirty="0"/>
              <a:t>Advantages and disadvantages of SRDDS </a:t>
            </a:r>
          </a:p>
          <a:p>
            <a:r>
              <a:rPr lang="en-IN" sz="2400" b="1" dirty="0"/>
              <a:t>Comparative analysis of different release patterns in various delivery systems</a:t>
            </a:r>
          </a:p>
          <a:p>
            <a:r>
              <a:rPr lang="en-IN" sz="2400" b="1" dirty="0"/>
              <a:t>Conventional RDDS Vs. Sustained RDDS Vs. Controlled RDDS.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98755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CDFBF-5EE0-50B5-F7EB-1C3006368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Previous year question asked on SRDDS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46303-8D80-4B55-A546-BEEE383F0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ts val="2851"/>
              </a:lnSpc>
              <a:buFont typeface="+mj-lt"/>
              <a:buAutoNum type="arabicPeriod"/>
            </a:pPr>
            <a:r>
              <a:rPr lang="en-US" sz="2400" b="1" dirty="0">
                <a:solidFill>
                  <a:schemeClr val="tx2"/>
                </a:solidFill>
              </a:rPr>
              <a:t>Discuss the rationale and concepts behind the development of controlled and sustained drug delivery systems.</a:t>
            </a:r>
            <a:endParaRPr lang="en-IN" sz="2400" b="1" dirty="0">
              <a:solidFill>
                <a:schemeClr val="tx2"/>
              </a:solidFill>
            </a:endParaRPr>
          </a:p>
          <a:p>
            <a:pPr algn="just">
              <a:lnSpc>
                <a:spcPts val="2851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tx2"/>
                </a:solidFill>
              </a:rPr>
              <a:t>Explain the physicochemical and biological factors that influence the design and performance of sustained/controlled release formulations.</a:t>
            </a:r>
          </a:p>
          <a:p>
            <a:pPr algn="just">
              <a:lnSpc>
                <a:spcPts val="2851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tx2"/>
                </a:solidFill>
              </a:rPr>
              <a:t>Describe in detail the various mechanisms of drug release from SR/CR systems such as Diffusion, Dissolution, Osmosis, and Erosion.</a:t>
            </a:r>
            <a:endParaRPr lang="en-US" sz="2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7623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76678-96C2-19BB-D2F4-80D6848E0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Introduction 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799E8-4427-D960-E5D8-4AEC56C11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500"/>
            <a:ext cx="8825659" cy="3642173"/>
          </a:xfrm>
        </p:spPr>
        <p:txBody>
          <a:bodyPr>
            <a:noAutofit/>
          </a:bodyPr>
          <a:lstStyle/>
          <a:p>
            <a:r>
              <a:rPr lang="en-IN" sz="2400" b="1" dirty="0">
                <a:solidFill>
                  <a:schemeClr val="tx2"/>
                </a:solidFill>
              </a:rPr>
              <a:t>Conventional dosage forms </a:t>
            </a:r>
            <a:r>
              <a:rPr lang="en-IN" sz="2400" b="1" dirty="0">
                <a:solidFill>
                  <a:schemeClr val="accent1"/>
                </a:solidFill>
              </a:rPr>
              <a:t>release drug immediately after administration.</a:t>
            </a:r>
          </a:p>
          <a:p>
            <a:r>
              <a:rPr lang="en-IN" sz="2400" b="1" dirty="0">
                <a:solidFill>
                  <a:schemeClr val="tx2"/>
                </a:solidFill>
              </a:rPr>
              <a:t>This leads to </a:t>
            </a:r>
            <a:r>
              <a:rPr lang="en-IN" sz="2400" b="1" dirty="0">
                <a:solidFill>
                  <a:schemeClr val="accent1"/>
                </a:solidFill>
              </a:rPr>
              <a:t>fluctuations in plasma drug concentration.</a:t>
            </a:r>
          </a:p>
          <a:p>
            <a:r>
              <a:rPr lang="en-IN" sz="2400" b="1" dirty="0">
                <a:solidFill>
                  <a:schemeClr val="tx2"/>
                </a:solidFill>
              </a:rPr>
              <a:t>Sustained release systems are designed to </a:t>
            </a:r>
            <a:r>
              <a:rPr lang="en-IN" sz="2400" b="1" dirty="0">
                <a:solidFill>
                  <a:schemeClr val="accent1"/>
                </a:solidFill>
              </a:rPr>
              <a:t>maintain</a:t>
            </a:r>
            <a:r>
              <a:rPr lang="en-IN" sz="2400" b="1" dirty="0">
                <a:solidFill>
                  <a:schemeClr val="tx2"/>
                </a:solidFill>
              </a:rPr>
              <a:t> </a:t>
            </a:r>
            <a:r>
              <a:rPr lang="en-IN" sz="2400" b="1" dirty="0">
                <a:solidFill>
                  <a:schemeClr val="accent1"/>
                </a:solidFill>
              </a:rPr>
              <a:t>drug levels </a:t>
            </a:r>
            <a:r>
              <a:rPr lang="en-IN" sz="2400" b="1" dirty="0">
                <a:solidFill>
                  <a:schemeClr val="tx2"/>
                </a:solidFill>
              </a:rPr>
              <a:t>within the therapeutic window for </a:t>
            </a:r>
            <a:r>
              <a:rPr lang="en-IN" sz="2400" b="1" dirty="0">
                <a:solidFill>
                  <a:schemeClr val="accent1"/>
                </a:solidFill>
              </a:rPr>
              <a:t>prolonged</a:t>
            </a:r>
            <a:r>
              <a:rPr lang="en-IN" sz="2400" b="1" dirty="0">
                <a:solidFill>
                  <a:schemeClr val="tx2"/>
                </a:solidFill>
              </a:rPr>
              <a:t> </a:t>
            </a:r>
            <a:r>
              <a:rPr lang="en-IN" sz="2400" b="1" dirty="0">
                <a:solidFill>
                  <a:schemeClr val="accent1"/>
                </a:solidFill>
              </a:rPr>
              <a:t>periods</a:t>
            </a:r>
            <a:r>
              <a:rPr lang="en-IN" sz="2400" b="1" dirty="0">
                <a:solidFill>
                  <a:schemeClr val="tx2"/>
                </a:solidFill>
              </a:rPr>
              <a:t>.</a:t>
            </a:r>
          </a:p>
          <a:p>
            <a:r>
              <a:rPr lang="en-IN" sz="2400" b="1" dirty="0">
                <a:solidFill>
                  <a:schemeClr val="tx2"/>
                </a:solidFill>
              </a:rPr>
              <a:t>Sustained release drug delivery system is an important approach to improve </a:t>
            </a:r>
            <a:r>
              <a:rPr lang="en-IN" sz="2400" b="1" dirty="0">
                <a:solidFill>
                  <a:schemeClr val="accent1"/>
                </a:solidFill>
              </a:rPr>
              <a:t>efficiency</a:t>
            </a:r>
            <a:r>
              <a:rPr lang="en-IN" sz="2400" b="1" dirty="0">
                <a:solidFill>
                  <a:schemeClr val="tx2"/>
                </a:solidFill>
              </a:rPr>
              <a:t>, </a:t>
            </a:r>
            <a:r>
              <a:rPr lang="en-IN" sz="2400" b="1" dirty="0">
                <a:solidFill>
                  <a:schemeClr val="accent1"/>
                </a:solidFill>
              </a:rPr>
              <a:t>safety</a:t>
            </a:r>
            <a:r>
              <a:rPr lang="en-IN" sz="2400" b="1" dirty="0">
                <a:solidFill>
                  <a:schemeClr val="tx2"/>
                </a:solidFill>
              </a:rPr>
              <a:t> and </a:t>
            </a:r>
            <a:r>
              <a:rPr lang="en-IN" sz="2400" b="1" dirty="0">
                <a:solidFill>
                  <a:schemeClr val="accent1"/>
                </a:solidFill>
              </a:rPr>
              <a:t>patient</a:t>
            </a:r>
            <a:r>
              <a:rPr lang="en-IN" sz="2400" b="1" dirty="0">
                <a:solidFill>
                  <a:schemeClr val="tx2"/>
                </a:solidFill>
              </a:rPr>
              <a:t> </a:t>
            </a:r>
            <a:r>
              <a:rPr lang="en-IN" sz="2400" b="1" dirty="0">
                <a:solidFill>
                  <a:schemeClr val="accent1"/>
                </a:solidFill>
              </a:rPr>
              <a:t>compliance</a:t>
            </a:r>
            <a:r>
              <a:rPr lang="en-IN" sz="2400" b="1" dirty="0">
                <a:solidFill>
                  <a:schemeClr val="tx2"/>
                </a:solidFill>
              </a:rPr>
              <a:t>.</a:t>
            </a:r>
            <a:endParaRPr lang="en-US" sz="2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4029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6E827-4F95-95EE-84F9-B0AEF7DBA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Definition 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6F321-4114-9B75-71F0-6E7C31C7C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chemeClr val="tx2"/>
                </a:solidFill>
              </a:rPr>
              <a:t>Sustained release drug delivery system is defined as : </a:t>
            </a:r>
          </a:p>
          <a:p>
            <a:pPr marL="0" indent="0">
              <a:buNone/>
            </a:pPr>
            <a:r>
              <a:rPr lang="en-IN" sz="2400" b="1" dirty="0">
                <a:solidFill>
                  <a:schemeClr val="accent1"/>
                </a:solidFill>
              </a:rPr>
              <a:t>“ A dosage form that release the drug at a predetermined rate , maintaining  constant drug concentration in the systemic circulation for a specific period of time.”</a:t>
            </a:r>
            <a:endParaRPr lang="en-IN" sz="2400" b="1" dirty="0">
              <a:solidFill>
                <a:schemeClr val="tx2"/>
              </a:solidFill>
            </a:endParaRPr>
          </a:p>
          <a:p>
            <a:r>
              <a:rPr lang="en-IN" sz="2400" b="1" dirty="0">
                <a:solidFill>
                  <a:schemeClr val="tx2"/>
                </a:solidFill>
              </a:rPr>
              <a:t>Sustained drug release is slower than immediate release </a:t>
            </a:r>
          </a:p>
          <a:p>
            <a:r>
              <a:rPr lang="en-IN" sz="2400" b="1" dirty="0">
                <a:solidFill>
                  <a:schemeClr val="tx2"/>
                </a:solidFill>
              </a:rPr>
              <a:t>And also extends duration of action.</a:t>
            </a:r>
          </a:p>
        </p:txBody>
      </p:sp>
    </p:spTree>
    <p:extLst>
      <p:ext uri="{BB962C8B-B14F-4D97-AF65-F5344CB8AC3E}">
        <p14:creationId xmlns:p14="http://schemas.microsoft.com/office/powerpoint/2010/main" val="2281941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E1259-3A27-C46A-CBC9-267DE7FAC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Objectives of sustained release system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85F2E-C278-13A3-9214-0C17609B3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400" b="1" dirty="0">
                <a:solidFill>
                  <a:schemeClr val="tx2"/>
                </a:solidFill>
              </a:rPr>
              <a:t>To maintain </a:t>
            </a:r>
            <a:r>
              <a:rPr lang="en-IN" sz="2400" b="1" dirty="0">
                <a:solidFill>
                  <a:schemeClr val="accent1"/>
                </a:solidFill>
              </a:rPr>
              <a:t>therapeutic plasma concentration</a:t>
            </a:r>
            <a:r>
              <a:rPr lang="en-IN" sz="2400" b="1" dirty="0">
                <a:solidFill>
                  <a:schemeClr val="tx2"/>
                </a:solidFill>
              </a:rPr>
              <a:t>.</a:t>
            </a:r>
          </a:p>
          <a:p>
            <a:r>
              <a:rPr lang="en-IN" sz="2400" b="1" dirty="0">
                <a:solidFill>
                  <a:schemeClr val="tx2"/>
                </a:solidFill>
              </a:rPr>
              <a:t>To reduce</a:t>
            </a:r>
            <a:r>
              <a:rPr lang="en-IN" sz="2400" b="1" dirty="0">
                <a:solidFill>
                  <a:schemeClr val="accent1"/>
                </a:solidFill>
              </a:rPr>
              <a:t> dosing frequency.</a:t>
            </a:r>
          </a:p>
          <a:p>
            <a:r>
              <a:rPr lang="en-IN" sz="2400" b="1" dirty="0">
                <a:solidFill>
                  <a:schemeClr val="tx2"/>
                </a:solidFill>
              </a:rPr>
              <a:t>To minimise </a:t>
            </a:r>
            <a:r>
              <a:rPr lang="en-IN" sz="2400" b="1" dirty="0">
                <a:solidFill>
                  <a:schemeClr val="accent1"/>
                </a:solidFill>
              </a:rPr>
              <a:t>peak</a:t>
            </a:r>
            <a:r>
              <a:rPr lang="en-IN" sz="2400" b="1" dirty="0">
                <a:solidFill>
                  <a:schemeClr val="tx2"/>
                </a:solidFill>
              </a:rPr>
              <a:t> </a:t>
            </a:r>
            <a:r>
              <a:rPr lang="en-IN" sz="2400" b="1" dirty="0">
                <a:solidFill>
                  <a:schemeClr val="accent1"/>
                </a:solidFill>
              </a:rPr>
              <a:t>trough</a:t>
            </a:r>
            <a:r>
              <a:rPr lang="en-IN" sz="2400" b="1" dirty="0">
                <a:solidFill>
                  <a:schemeClr val="tx2"/>
                </a:solidFill>
              </a:rPr>
              <a:t> </a:t>
            </a:r>
            <a:r>
              <a:rPr lang="en-IN" sz="2400" b="1" dirty="0">
                <a:solidFill>
                  <a:schemeClr val="accent1"/>
                </a:solidFill>
              </a:rPr>
              <a:t>fluctuations</a:t>
            </a:r>
            <a:r>
              <a:rPr lang="en-IN" sz="2400" b="1" dirty="0">
                <a:solidFill>
                  <a:schemeClr val="tx2"/>
                </a:solidFill>
              </a:rPr>
              <a:t>.</a:t>
            </a:r>
          </a:p>
          <a:p>
            <a:r>
              <a:rPr lang="en-IN" sz="2400" b="1" dirty="0">
                <a:solidFill>
                  <a:schemeClr val="tx2"/>
                </a:solidFill>
              </a:rPr>
              <a:t>To reduce dose related</a:t>
            </a:r>
            <a:r>
              <a:rPr lang="en-IN" sz="2400" b="1" dirty="0">
                <a:solidFill>
                  <a:schemeClr val="accent1"/>
                </a:solidFill>
              </a:rPr>
              <a:t> side effects.</a:t>
            </a:r>
          </a:p>
          <a:p>
            <a:r>
              <a:rPr lang="en-IN" sz="2400" b="1" dirty="0">
                <a:solidFill>
                  <a:schemeClr val="tx2"/>
                </a:solidFill>
              </a:rPr>
              <a:t>To improve </a:t>
            </a:r>
            <a:r>
              <a:rPr lang="en-IN" sz="2400" b="1" dirty="0">
                <a:solidFill>
                  <a:schemeClr val="accent1"/>
                </a:solidFill>
              </a:rPr>
              <a:t>patient</a:t>
            </a:r>
            <a:r>
              <a:rPr lang="en-IN" sz="2400" b="1" dirty="0">
                <a:solidFill>
                  <a:schemeClr val="tx2"/>
                </a:solidFill>
              </a:rPr>
              <a:t> </a:t>
            </a:r>
            <a:r>
              <a:rPr lang="en-IN" sz="2400" b="1" dirty="0">
                <a:solidFill>
                  <a:schemeClr val="accent1"/>
                </a:solidFill>
              </a:rPr>
              <a:t>compliance</a:t>
            </a:r>
            <a:r>
              <a:rPr lang="en-IN" sz="2400" b="1" dirty="0">
                <a:solidFill>
                  <a:schemeClr val="tx2"/>
                </a:solidFill>
              </a:rPr>
              <a:t>.</a:t>
            </a:r>
          </a:p>
          <a:p>
            <a:r>
              <a:rPr lang="en-IN" sz="2400" b="1" dirty="0">
                <a:solidFill>
                  <a:schemeClr val="tx2"/>
                </a:solidFill>
              </a:rPr>
              <a:t>To enhance overall</a:t>
            </a:r>
            <a:r>
              <a:rPr lang="en-IN" sz="2400" b="1" dirty="0">
                <a:solidFill>
                  <a:schemeClr val="accent1"/>
                </a:solidFill>
              </a:rPr>
              <a:t> therapeutic effectiveness.</a:t>
            </a:r>
            <a:endParaRPr lang="en-US" sz="2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0485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8CB9E-9A26-A872-73B6-7F0E9C491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Ideal characteristics of drugs suitable for SRDDS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8D779-723A-521B-9428-8387D076F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Short</a:t>
            </a:r>
            <a:r>
              <a:rPr lang="en-IN" sz="2400" b="1" dirty="0">
                <a:solidFill>
                  <a:schemeClr val="tx2"/>
                </a:solidFill>
              </a:rPr>
              <a:t> biological half-life (2-6 hours).</a:t>
            </a:r>
          </a:p>
          <a:p>
            <a:r>
              <a:rPr lang="en-IN" sz="2400" b="1" dirty="0">
                <a:solidFill>
                  <a:schemeClr val="accent1"/>
                </a:solidFill>
              </a:rPr>
              <a:t>High </a:t>
            </a:r>
            <a:r>
              <a:rPr lang="en-IN" sz="2400" b="1" dirty="0">
                <a:solidFill>
                  <a:schemeClr val="tx2"/>
                </a:solidFill>
              </a:rPr>
              <a:t>therapeutic index.(It is ratio of toxic dose to the effective dose , which is measures the safety margin )</a:t>
            </a:r>
          </a:p>
          <a:p>
            <a:r>
              <a:rPr lang="en-IN" sz="2400" b="1" dirty="0">
                <a:solidFill>
                  <a:schemeClr val="accent1"/>
                </a:solidFill>
              </a:rPr>
              <a:t>Good absorption</a:t>
            </a:r>
            <a:r>
              <a:rPr lang="en-IN" sz="2400" b="1" dirty="0">
                <a:solidFill>
                  <a:schemeClr val="tx2"/>
                </a:solidFill>
              </a:rPr>
              <a:t> through out GIT.</a:t>
            </a:r>
          </a:p>
          <a:p>
            <a:r>
              <a:rPr lang="en-IN" sz="2400" b="1" dirty="0">
                <a:solidFill>
                  <a:schemeClr val="accent1"/>
                </a:solidFill>
              </a:rPr>
              <a:t>Stable</a:t>
            </a:r>
            <a:r>
              <a:rPr lang="en-IN" sz="2400" b="1" dirty="0">
                <a:solidFill>
                  <a:schemeClr val="tx2"/>
                </a:solidFill>
              </a:rPr>
              <a:t> </a:t>
            </a:r>
            <a:r>
              <a:rPr lang="en-IN" sz="2400" b="1" dirty="0">
                <a:solidFill>
                  <a:schemeClr val="accent1"/>
                </a:solidFill>
              </a:rPr>
              <a:t>in</a:t>
            </a:r>
            <a:r>
              <a:rPr lang="en-IN" sz="2400" b="1" dirty="0">
                <a:solidFill>
                  <a:schemeClr val="tx2"/>
                </a:solidFill>
              </a:rPr>
              <a:t> </a:t>
            </a:r>
            <a:r>
              <a:rPr lang="en-IN" sz="2400" b="1" dirty="0">
                <a:solidFill>
                  <a:schemeClr val="accent1"/>
                </a:solidFill>
              </a:rPr>
              <a:t>GI</a:t>
            </a:r>
            <a:r>
              <a:rPr lang="en-IN" sz="2400" b="1" dirty="0">
                <a:solidFill>
                  <a:schemeClr val="tx2"/>
                </a:solidFill>
              </a:rPr>
              <a:t> environment </a:t>
            </a:r>
          </a:p>
          <a:p>
            <a:r>
              <a:rPr lang="en-IN" sz="2400" b="1" dirty="0">
                <a:solidFill>
                  <a:schemeClr val="accent1"/>
                </a:solidFill>
              </a:rPr>
              <a:t>Low dose </a:t>
            </a:r>
            <a:r>
              <a:rPr lang="en-IN" sz="2400" b="1" dirty="0">
                <a:solidFill>
                  <a:schemeClr val="tx2"/>
                </a:solidFill>
              </a:rPr>
              <a:t>requirement.</a:t>
            </a:r>
            <a:endParaRPr lang="en-IN" sz="2400" b="1" dirty="0">
              <a:solidFill>
                <a:schemeClr val="accent1"/>
              </a:solidFill>
            </a:endParaRPr>
          </a:p>
          <a:p>
            <a:r>
              <a:rPr lang="en-IN" sz="2400" b="1" dirty="0">
                <a:solidFill>
                  <a:schemeClr val="accent1"/>
                </a:solidFill>
              </a:rPr>
              <a:t>Linear pharmacokinetics.</a:t>
            </a:r>
          </a:p>
          <a:p>
            <a:pPr marL="0" indent="0">
              <a:buNone/>
            </a:pPr>
            <a:r>
              <a:rPr lang="en-IN" sz="2400" b="1" dirty="0">
                <a:solidFill>
                  <a:schemeClr val="tx2"/>
                </a:solidFill>
              </a:rPr>
              <a:t>Some examples are : </a:t>
            </a:r>
            <a:r>
              <a:rPr lang="en-IN" sz="2400" b="1" dirty="0">
                <a:solidFill>
                  <a:schemeClr val="accent1"/>
                </a:solidFill>
              </a:rPr>
              <a:t>Metformin</a:t>
            </a:r>
            <a:r>
              <a:rPr lang="en-IN" sz="2400" b="1" dirty="0">
                <a:solidFill>
                  <a:schemeClr val="tx2"/>
                </a:solidFill>
              </a:rPr>
              <a:t>, </a:t>
            </a:r>
            <a:r>
              <a:rPr lang="en-IN" sz="2400" b="1" dirty="0">
                <a:solidFill>
                  <a:schemeClr val="accent1"/>
                </a:solidFill>
              </a:rPr>
              <a:t>Theophylline</a:t>
            </a:r>
            <a:r>
              <a:rPr lang="en-IN" sz="2400" b="1" dirty="0">
                <a:solidFill>
                  <a:schemeClr val="tx2"/>
                </a:solidFill>
              </a:rPr>
              <a:t>, </a:t>
            </a:r>
            <a:r>
              <a:rPr lang="en-IN" sz="2400" b="1" dirty="0">
                <a:solidFill>
                  <a:schemeClr val="accent1"/>
                </a:solidFill>
              </a:rPr>
              <a:t>propranolol</a:t>
            </a:r>
            <a:r>
              <a:rPr lang="en-IN" sz="2400" b="1" dirty="0">
                <a:solidFill>
                  <a:schemeClr val="tx2"/>
                </a:solidFill>
              </a:rPr>
              <a:t>.</a:t>
            </a:r>
            <a:endParaRPr lang="en-US" sz="2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2393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66EC1-2730-B528-F34D-6EDB5E86D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Drug unsuitable for SRDDS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1553E-9091-37C3-4190-B6B7A18A5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13775"/>
            <a:ext cx="8825659" cy="3416300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chemeClr val="tx2"/>
                </a:solidFill>
              </a:rPr>
              <a:t>Very </a:t>
            </a:r>
            <a:r>
              <a:rPr lang="en-IN" sz="2400" b="1" dirty="0">
                <a:solidFill>
                  <a:schemeClr val="accent1"/>
                </a:solidFill>
              </a:rPr>
              <a:t>short or long half- life</a:t>
            </a:r>
            <a:r>
              <a:rPr lang="en-IN" sz="2400" b="1" dirty="0">
                <a:solidFill>
                  <a:schemeClr val="tx2"/>
                </a:solidFill>
              </a:rPr>
              <a:t> drugs.</a:t>
            </a:r>
          </a:p>
          <a:p>
            <a:r>
              <a:rPr lang="en-IN" sz="2400" b="1" dirty="0">
                <a:solidFill>
                  <a:schemeClr val="accent1"/>
                </a:solidFill>
              </a:rPr>
              <a:t>Narrow</a:t>
            </a:r>
            <a:r>
              <a:rPr lang="en-IN" sz="2400" b="1" dirty="0">
                <a:solidFill>
                  <a:schemeClr val="tx2"/>
                </a:solidFill>
              </a:rPr>
              <a:t> therapeutic index.</a:t>
            </a:r>
          </a:p>
          <a:p>
            <a:r>
              <a:rPr lang="en-IN" sz="2400" b="1" dirty="0">
                <a:solidFill>
                  <a:schemeClr val="accent1"/>
                </a:solidFill>
              </a:rPr>
              <a:t>Poor</a:t>
            </a:r>
            <a:r>
              <a:rPr lang="en-IN" sz="2400" b="1" dirty="0">
                <a:solidFill>
                  <a:schemeClr val="tx2"/>
                </a:solidFill>
              </a:rPr>
              <a:t> GI absorption.</a:t>
            </a:r>
          </a:p>
          <a:p>
            <a:r>
              <a:rPr lang="en-IN" sz="2400" b="1" dirty="0">
                <a:solidFill>
                  <a:schemeClr val="tx2"/>
                </a:solidFill>
              </a:rPr>
              <a:t>Drug requiring rapid </a:t>
            </a:r>
            <a:r>
              <a:rPr lang="en-IN" sz="2400" b="1" dirty="0">
                <a:solidFill>
                  <a:schemeClr val="accent1"/>
                </a:solidFill>
              </a:rPr>
              <a:t>onset of action.</a:t>
            </a:r>
          </a:p>
          <a:p>
            <a:r>
              <a:rPr lang="en-IN" sz="2400" b="1" dirty="0">
                <a:solidFill>
                  <a:schemeClr val="tx2"/>
                </a:solidFill>
              </a:rPr>
              <a:t>Drug undergoing </a:t>
            </a:r>
            <a:r>
              <a:rPr lang="en-IN" sz="2400" b="1" dirty="0">
                <a:solidFill>
                  <a:schemeClr val="accent1"/>
                </a:solidFill>
              </a:rPr>
              <a:t>extensive first pass metabolism.</a:t>
            </a:r>
          </a:p>
          <a:p>
            <a:r>
              <a:rPr lang="en-IN" sz="2400" b="1" dirty="0">
                <a:solidFill>
                  <a:schemeClr val="tx2"/>
                </a:solidFill>
              </a:rPr>
              <a:t>Significant</a:t>
            </a:r>
            <a:r>
              <a:rPr lang="en-IN" sz="2400" b="1" dirty="0">
                <a:solidFill>
                  <a:schemeClr val="accent1"/>
                </a:solidFill>
              </a:rPr>
              <a:t> “First-Pass” Effect or Site-Specific</a:t>
            </a:r>
            <a:r>
              <a:rPr lang="en-IN" sz="2400" b="1" dirty="0">
                <a:solidFill>
                  <a:schemeClr val="tx2"/>
                </a:solidFill>
              </a:rPr>
              <a:t> absorption.</a:t>
            </a:r>
          </a:p>
          <a:p>
            <a:r>
              <a:rPr lang="en-IN" sz="2400" b="1" dirty="0">
                <a:solidFill>
                  <a:schemeClr val="accent1"/>
                </a:solidFill>
              </a:rPr>
              <a:t>High dosage forms </a:t>
            </a:r>
            <a:r>
              <a:rPr lang="en-IN" sz="2400" b="1" dirty="0">
                <a:solidFill>
                  <a:schemeClr val="tx2"/>
                </a:solidFill>
              </a:rPr>
              <a:t>become too large/bulky to swallow </a:t>
            </a:r>
            <a:endParaRPr lang="en-US" sz="2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3135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BF1CCE3-563B-CBD0-36E0-AF7510A38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Principle for SRDDS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40C2F4-EDA6-EEA7-9FC5-96966506D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281695"/>
            <a:ext cx="8825659" cy="293876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The </a:t>
            </a:r>
            <a:r>
              <a:rPr lang="en-IN" sz="2400" b="1" dirty="0">
                <a:solidFill>
                  <a:schemeClr val="tx2"/>
                </a:solidFill>
              </a:rPr>
              <a:t>principle </a:t>
            </a:r>
            <a:r>
              <a:rPr lang="en-US" sz="2400" b="1" dirty="0">
                <a:solidFill>
                  <a:schemeClr val="tx2"/>
                </a:solidFill>
              </a:rPr>
              <a:t>of sustained release formulation can be </a:t>
            </a:r>
            <a:r>
              <a:rPr lang="en-IN" sz="2400" b="1" dirty="0">
                <a:solidFill>
                  <a:schemeClr val="tx2"/>
                </a:solidFill>
              </a:rPr>
              <a:t>                 </a:t>
            </a:r>
            <a:r>
              <a:rPr lang="en-US" sz="2400" b="1" dirty="0">
                <a:solidFill>
                  <a:schemeClr val="tx2"/>
                </a:solidFill>
              </a:rPr>
              <a:t>divided in to two considerations i.e. </a:t>
            </a:r>
            <a:r>
              <a:rPr lang="en-US" sz="2400" b="1" dirty="0">
                <a:solidFill>
                  <a:schemeClr val="accent1"/>
                </a:solidFill>
              </a:rPr>
              <a:t>release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>
                <a:solidFill>
                  <a:schemeClr val="accent1"/>
                </a:solidFill>
              </a:rPr>
              <a:t>rate &amp; dose </a:t>
            </a:r>
            <a:r>
              <a:rPr lang="en-IN" sz="2400" b="1" dirty="0">
                <a:solidFill>
                  <a:schemeClr val="accent1"/>
                </a:solidFill>
              </a:rPr>
              <a:t>  </a:t>
            </a:r>
            <a:r>
              <a:rPr lang="en-IN" sz="2400" b="1" dirty="0">
                <a:solidFill>
                  <a:schemeClr val="tx2"/>
                </a:solidFill>
              </a:rPr>
              <a:t>      </a:t>
            </a:r>
            <a:r>
              <a:rPr lang="en-US" sz="2400" b="1" dirty="0">
                <a:solidFill>
                  <a:schemeClr val="accent1"/>
                </a:solidFill>
              </a:rPr>
              <a:t>consideration</a:t>
            </a:r>
            <a:endParaRPr lang="en-IN" sz="2400" b="1" dirty="0">
              <a:solidFill>
                <a:schemeClr val="accent1"/>
              </a:solidFill>
            </a:endParaRPr>
          </a:p>
          <a:p>
            <a:pPr>
              <a:buAutoNum type="alphaUcParenR"/>
            </a:pPr>
            <a:r>
              <a:rPr lang="en-US" sz="2400" b="1" u="sng" dirty="0">
                <a:solidFill>
                  <a:schemeClr val="accent1"/>
                </a:solidFill>
              </a:rPr>
              <a:t>Release rate consideration</a:t>
            </a:r>
            <a:r>
              <a:rPr lang="en-US" sz="2400" dirty="0"/>
              <a:t> </a:t>
            </a:r>
            <a:r>
              <a:rPr lang="en-US" sz="2400" b="1" dirty="0">
                <a:solidFill>
                  <a:schemeClr val="tx2"/>
                </a:solidFill>
              </a:rPr>
              <a:t>:</a:t>
            </a:r>
            <a:r>
              <a:rPr lang="en-IN" sz="2400" b="1" dirty="0">
                <a:solidFill>
                  <a:schemeClr val="tx2"/>
                </a:solidFill>
              </a:rPr>
              <a:t> </a:t>
            </a:r>
            <a:r>
              <a:rPr lang="en-US" sz="2400" b="1" dirty="0">
                <a:solidFill>
                  <a:schemeClr val="tx2"/>
                </a:solidFill>
              </a:rPr>
              <a:t>In conventional dosage form</a:t>
            </a:r>
            <a:r>
              <a:rPr lang="en-US" sz="2400" b="1" dirty="0">
                <a:solidFill>
                  <a:schemeClr val="accent1"/>
                </a:solidFill>
              </a:rPr>
              <a:t> Kr</a:t>
            </a:r>
            <a:r>
              <a:rPr lang="en-IN" sz="2400" b="1" dirty="0">
                <a:solidFill>
                  <a:schemeClr val="accent1"/>
                </a:solidFill>
              </a:rPr>
              <a:t> </a:t>
            </a:r>
            <a:r>
              <a:rPr lang="en-US" sz="2400" b="1" dirty="0">
                <a:solidFill>
                  <a:schemeClr val="accent1"/>
                </a:solidFill>
              </a:rPr>
              <a:t>&gt;</a:t>
            </a:r>
            <a:r>
              <a:rPr lang="en-IN" sz="2400" b="1" dirty="0">
                <a:solidFill>
                  <a:schemeClr val="tx2"/>
                </a:solidFill>
              </a:rPr>
              <a:t> </a:t>
            </a:r>
            <a:r>
              <a:rPr lang="en-IN" sz="2400" b="1" dirty="0">
                <a:solidFill>
                  <a:schemeClr val="accent1"/>
                </a:solidFill>
              </a:rPr>
              <a:t>ka</a:t>
            </a:r>
            <a:r>
              <a:rPr lang="en-US" sz="2400" b="1" dirty="0">
                <a:solidFill>
                  <a:schemeClr val="tx2"/>
                </a:solidFill>
              </a:rPr>
              <a:t> in this the release of drug from dosage form is not rate limiting step. </a:t>
            </a:r>
            <a:endParaRPr lang="en-IN" sz="24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IN" sz="2400" dirty="0">
                <a:solidFill>
                  <a:schemeClr val="tx2"/>
                </a:solidFill>
              </a:rPr>
              <a:t>   </a:t>
            </a:r>
            <a:endParaRPr lang="en-US" sz="2400" dirty="0">
              <a:solidFill>
                <a:schemeClr val="tx2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78985E-FA92-A714-7175-D49688F44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164" y="4884286"/>
            <a:ext cx="7944861" cy="166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293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37AF1-0086-5097-AC50-90CE0F56C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59B81-39C9-3CE0-AF08-152658936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408321"/>
            <a:ext cx="8825659" cy="41869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The above criteria i.e. </a:t>
            </a:r>
            <a:r>
              <a:rPr lang="en-US" sz="2400" b="1" dirty="0">
                <a:solidFill>
                  <a:schemeClr val="accent1"/>
                </a:solidFill>
              </a:rPr>
              <a:t>(Kr&gt;</a:t>
            </a:r>
            <a:r>
              <a:rPr lang="en-IN" sz="2400" b="1" dirty="0">
                <a:solidFill>
                  <a:schemeClr val="accent1"/>
                </a:solidFill>
              </a:rPr>
              <a:t>Ka</a:t>
            </a:r>
            <a:r>
              <a:rPr lang="en-US" sz="2400" b="1" dirty="0">
                <a:solidFill>
                  <a:schemeClr val="accent1"/>
                </a:solidFill>
              </a:rPr>
              <a:t>) </a:t>
            </a:r>
            <a:r>
              <a:rPr lang="en-US" sz="2400" b="1" dirty="0">
                <a:solidFill>
                  <a:schemeClr val="tx2"/>
                </a:solidFill>
              </a:rPr>
              <a:t>is in case of </a:t>
            </a:r>
            <a:r>
              <a:rPr lang="en-US" sz="2400" b="1" dirty="0">
                <a:solidFill>
                  <a:schemeClr val="accent1"/>
                </a:solidFill>
              </a:rPr>
              <a:t>immediate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IN" sz="2400" b="1" dirty="0">
                <a:solidFill>
                  <a:schemeClr val="accent1"/>
                </a:solidFill>
              </a:rPr>
              <a:t>release</a:t>
            </a:r>
            <a:r>
              <a:rPr lang="en-IN" sz="2400" b="1" dirty="0">
                <a:solidFill>
                  <a:schemeClr val="tx2"/>
                </a:solidFill>
              </a:rPr>
              <a:t> </a:t>
            </a:r>
            <a:r>
              <a:rPr lang="en-US" sz="2400" b="1" dirty="0">
                <a:solidFill>
                  <a:schemeClr val="tx2"/>
                </a:solidFill>
              </a:rPr>
              <a:t>where as in </a:t>
            </a:r>
            <a:r>
              <a:rPr lang="en-US" sz="2400" b="1" dirty="0">
                <a:solidFill>
                  <a:schemeClr val="accent1"/>
                </a:solidFill>
              </a:rPr>
              <a:t>non immediate (Kr&lt;</a:t>
            </a:r>
            <a:r>
              <a:rPr lang="en-IN" sz="2400" b="1" dirty="0">
                <a:solidFill>
                  <a:schemeClr val="accent1"/>
                </a:solidFill>
              </a:rPr>
              <a:t>Ka</a:t>
            </a:r>
            <a:r>
              <a:rPr lang="en-US" sz="2400" b="1" dirty="0">
                <a:solidFill>
                  <a:schemeClr val="accent1"/>
                </a:solidFill>
              </a:rPr>
              <a:t>) </a:t>
            </a:r>
            <a:r>
              <a:rPr lang="en-US" sz="2400" b="1" dirty="0">
                <a:solidFill>
                  <a:schemeClr val="tx2"/>
                </a:solidFill>
              </a:rPr>
              <a:t>i.e. release is rate limiting </a:t>
            </a:r>
            <a:r>
              <a:rPr lang="en-IN" sz="2400" b="1" dirty="0">
                <a:solidFill>
                  <a:schemeClr val="tx2"/>
                </a:solidFill>
              </a:rPr>
              <a:t>step.</a:t>
            </a:r>
          </a:p>
          <a:p>
            <a:pPr marL="0" indent="0">
              <a:buNone/>
            </a:pPr>
            <a:r>
              <a:rPr lang="en-IN" sz="2400" b="1" dirty="0">
                <a:solidFill>
                  <a:schemeClr val="tx2"/>
                </a:solidFill>
              </a:rPr>
              <a:t>Absorption phase becomes insignificant compared to drug release phase.</a:t>
            </a:r>
          </a:p>
          <a:p>
            <a:r>
              <a:rPr lang="en-IN" sz="2400" b="1" dirty="0">
                <a:solidFill>
                  <a:schemeClr val="tx2"/>
                </a:solidFill>
              </a:rPr>
              <a:t>Thus</a:t>
            </a:r>
            <a:r>
              <a:rPr lang="en-IN" sz="2400" b="1" dirty="0">
                <a:solidFill>
                  <a:schemeClr val="accent1"/>
                </a:solidFill>
              </a:rPr>
              <a:t> effort of developing S.R.F</a:t>
            </a:r>
            <a:r>
              <a:rPr lang="en-IN" sz="2400" b="1" dirty="0">
                <a:solidFill>
                  <a:schemeClr val="tx2"/>
                </a:solidFill>
              </a:rPr>
              <a:t> must be directed primarily altering the release rate. The rate should be independent of drug remaining in the dosage form over constant time.</a:t>
            </a:r>
          </a:p>
          <a:p>
            <a:pPr marL="0" indent="0">
              <a:buNone/>
            </a:pPr>
            <a:r>
              <a:rPr lang="en-IN" sz="2400" b="1" dirty="0">
                <a:solidFill>
                  <a:schemeClr val="accent1"/>
                </a:solidFill>
              </a:rPr>
              <a:t>The release should follow zero order kinetics</a:t>
            </a:r>
            <a:endParaRPr lang="en-US" sz="2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2846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83C0A-C02F-158B-A2FC-A5C9144BD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5FBE72-2F45-D785-956A-9128A0C09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chemeClr val="accent1"/>
                </a:solidFill>
              </a:rPr>
              <a:t>Kr=Rate in =Rate out =KeVd.Cd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2"/>
                </a:solidFill>
              </a:rPr>
              <a:t>Where</a:t>
            </a:r>
            <a:r>
              <a:rPr lang="en-IN" sz="2400" b="1" dirty="0">
                <a:solidFill>
                  <a:schemeClr val="tx2"/>
                </a:solidFill>
              </a:rPr>
              <a:t> Ke =overall elimination (first order kinetics).
             Vd= Total volume of distribution.
             Cd= Desired drug concentration.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B</a:t>
            </a:r>
            <a:r>
              <a:rPr lang="en-US" sz="2400" b="1" u="sng" dirty="0">
                <a:solidFill>
                  <a:schemeClr val="accent1"/>
                </a:solidFill>
              </a:rPr>
              <a:t>)Dose consideration</a:t>
            </a:r>
            <a:r>
              <a:rPr lang="en-IN" sz="2400" b="1" dirty="0">
                <a:solidFill>
                  <a:schemeClr val="accent1"/>
                </a:solidFill>
              </a:rPr>
              <a:t> :-</a:t>
            </a:r>
          </a:p>
          <a:p>
            <a:pPr marL="0" indent="0">
              <a:buNone/>
            </a:pPr>
            <a:r>
              <a:rPr lang="en-IN" sz="2400" b="1" dirty="0">
                <a:solidFill>
                  <a:schemeClr val="tx2"/>
                </a:solidFill>
              </a:rPr>
              <a:t>To achieve the therapeutic level &amp; sustain for a given period of time for the dosage form generally consist of 2 part :</a:t>
            </a:r>
          </a:p>
          <a:p>
            <a:pPr marL="457189" indent="-457189">
              <a:buAutoNum type="alphaUcParenR"/>
            </a:pPr>
            <a:r>
              <a:rPr lang="en-IN" sz="2400" b="1" dirty="0">
                <a:solidFill>
                  <a:schemeClr val="accent1"/>
                </a:solidFill>
              </a:rPr>
              <a:t>Initial dose </a:t>
            </a:r>
          </a:p>
          <a:p>
            <a:pPr marL="457189" indent="-457189">
              <a:buAutoNum type="alphaUcParenR"/>
            </a:pPr>
            <a:r>
              <a:rPr lang="en-IN" sz="2400" b="1" dirty="0">
                <a:solidFill>
                  <a:schemeClr val="accent1"/>
                </a:solidFill>
              </a:rPr>
              <a:t>Maintenances dose</a:t>
            </a:r>
          </a:p>
          <a:p>
            <a:pPr marL="0" indent="0">
              <a:buNone/>
            </a:pPr>
            <a:endParaRPr lang="en-US" sz="2600" b="1" dirty="0">
              <a:solidFill>
                <a:schemeClr val="tx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72AAFB-F21C-F9B6-21F9-7BE3352A54E0}"/>
              </a:ext>
            </a:extLst>
          </p:cNvPr>
          <p:cNvSpPr txBox="1"/>
          <p:nvPr/>
        </p:nvSpPr>
        <p:spPr>
          <a:xfrm>
            <a:off x="1154955" y="572380"/>
            <a:ext cx="6022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700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783C4-018B-9B22-9EE9-8514261D0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C070B-57CF-AAC0-83ED-3E8B0D5E9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40458"/>
            <a:ext cx="9715103" cy="3879883"/>
          </a:xfrm>
        </p:spPr>
        <p:txBody>
          <a:bodyPr anchor="ctr">
            <a:noAutofit/>
          </a:bodyPr>
          <a:lstStyle/>
          <a:p>
            <a:pPr marL="0" indent="0" algn="just">
              <a:buNone/>
            </a:pPr>
            <a:r>
              <a:rPr lang="en-IN" sz="2400" b="1" dirty="0">
                <a:solidFill>
                  <a:schemeClr val="tx2"/>
                </a:solidFill>
              </a:rPr>
              <a:t>Initial Dose </a:t>
            </a:r>
            <a:r>
              <a:rPr lang="en-IN" sz="2400" b="1" dirty="0">
                <a:solidFill>
                  <a:schemeClr val="accent1"/>
                </a:solidFill>
              </a:rPr>
              <a:t>(Di)</a:t>
            </a:r>
            <a:r>
              <a:rPr lang="en-IN" sz="2400" b="1" dirty="0">
                <a:solidFill>
                  <a:schemeClr val="tx2"/>
                </a:solidFill>
              </a:rPr>
              <a:t>- It is immediately released to provide a  therapeutic blood level. The time required for the drug to accumulate to a </a:t>
            </a:r>
            <a:r>
              <a:rPr lang="en-IN" sz="2400" b="1" dirty="0">
                <a:solidFill>
                  <a:schemeClr val="accent1"/>
                </a:solidFill>
              </a:rPr>
              <a:t>steady state plasma level is mainly dependent on its half-life,</a:t>
            </a:r>
            <a:r>
              <a:rPr lang="en-IN" sz="2400" b="1" dirty="0">
                <a:solidFill>
                  <a:schemeClr val="tx2"/>
                </a:solidFill>
              </a:rPr>
              <a:t>
Maintenance dose</a:t>
            </a:r>
            <a:r>
              <a:rPr lang="en-IN" sz="2400" b="1" dirty="0">
                <a:solidFill>
                  <a:schemeClr val="accent1"/>
                </a:solidFill>
              </a:rPr>
              <a:t>(Dm)</a:t>
            </a:r>
            <a:r>
              <a:rPr lang="en-IN" sz="2400" b="1" dirty="0">
                <a:solidFill>
                  <a:schemeClr val="tx2"/>
                </a:solidFill>
              </a:rPr>
              <a:t> – is released after Di, has produced a blood level </a:t>
            </a:r>
            <a:r>
              <a:rPr lang="en-IN" sz="2400" b="1" dirty="0">
                <a:solidFill>
                  <a:schemeClr val="accent1"/>
                </a:solidFill>
              </a:rPr>
              <a:t>equal to the therapeutic drug level</a:t>
            </a:r>
            <a:r>
              <a:rPr lang="en-IN" sz="2400" b="1" dirty="0">
                <a:solidFill>
                  <a:schemeClr val="tx2"/>
                </a:solidFill>
              </a:rPr>
              <a:t>. It is released over a period of time and is equal to the </a:t>
            </a:r>
            <a:r>
              <a:rPr lang="en-IN" sz="2400" b="1" dirty="0">
                <a:solidFill>
                  <a:schemeClr val="accent1"/>
                </a:solidFill>
              </a:rPr>
              <a:t>product duration of action.</a:t>
            </a:r>
            <a:r>
              <a:rPr lang="en-IN" sz="2400" b="1" dirty="0">
                <a:solidFill>
                  <a:schemeClr val="tx2"/>
                </a:solidFill>
              </a:rPr>
              <a:t>
Therefore </a:t>
            </a:r>
            <a:r>
              <a:rPr lang="en-IN" sz="2400" b="1" dirty="0">
                <a:solidFill>
                  <a:schemeClr val="accent1"/>
                </a:solidFill>
              </a:rPr>
              <a:t>the total dose ‘W’ can be</a:t>
            </a:r>
            <a:r>
              <a:rPr lang="en-IN" sz="2400" b="1" dirty="0">
                <a:solidFill>
                  <a:schemeClr val="tx2"/>
                </a:solidFill>
              </a:rPr>
              <a:t>.</a:t>
            </a:r>
          </a:p>
          <a:p>
            <a:pPr marL="0" indent="0" algn="ctr">
              <a:buNone/>
            </a:pPr>
            <a:r>
              <a:rPr lang="en-IN" sz="2400" dirty="0"/>
              <a:t> </a:t>
            </a:r>
            <a:r>
              <a:rPr lang="en-IN" sz="2400" b="1" dirty="0">
                <a:solidFill>
                  <a:schemeClr val="accent1"/>
                </a:solidFill>
              </a:rPr>
              <a:t>W=</a:t>
            </a:r>
            <a:r>
              <a:rPr lang="en-IN" sz="2400" b="1" dirty="0" err="1">
                <a:solidFill>
                  <a:schemeClr val="accent1"/>
                </a:solidFill>
              </a:rPr>
              <a:t>Di+Dm</a:t>
            </a:r>
            <a:endParaRPr lang="en-US" sz="2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27234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135DC-F14F-9E3C-9968-1CF64A2C6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5503724-0B1F-B686-8D57-BE3482E32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506560"/>
            <a:ext cx="9704829" cy="37709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chemeClr val="tx2"/>
                </a:solidFill>
              </a:rPr>
              <a:t>In a system, the therapeutic </a:t>
            </a:r>
            <a:r>
              <a:rPr lang="en-IN" sz="2400" b="1" dirty="0">
                <a:solidFill>
                  <a:schemeClr val="accent1"/>
                </a:solidFill>
              </a:rPr>
              <a:t>dose release follows zero order process </a:t>
            </a:r>
            <a:r>
              <a:rPr lang="en-IN" sz="2400" b="1" dirty="0">
                <a:solidFill>
                  <a:schemeClr val="tx2"/>
                </a:solidFill>
              </a:rPr>
              <a:t>for specified time period then,</a:t>
            </a:r>
          </a:p>
          <a:p>
            <a:pPr marL="0" indent="0">
              <a:buNone/>
            </a:pPr>
            <a:r>
              <a:rPr lang="en-IN" sz="2400" b="1" dirty="0">
                <a:solidFill>
                  <a:schemeClr val="accent1"/>
                </a:solidFill>
              </a:rPr>
              <a:t>                                  W=Di+ K°r  . Td</a:t>
            </a:r>
          </a:p>
          <a:p>
            <a:pPr marL="0" indent="0">
              <a:buNone/>
            </a:pPr>
            <a:r>
              <a:rPr lang="en-IN" sz="2400" b="1" dirty="0">
                <a:solidFill>
                  <a:schemeClr val="tx2"/>
                </a:solidFill>
              </a:rPr>
              <a:t>K° r =Zero order release rate</a:t>
            </a:r>
          </a:p>
          <a:p>
            <a:pPr marL="0" indent="0">
              <a:buNone/>
            </a:pPr>
            <a:r>
              <a:rPr lang="en-IN" sz="2400" b="1" dirty="0">
                <a:solidFill>
                  <a:schemeClr val="tx2"/>
                </a:solidFill>
              </a:rPr>
              <a:t>Td = time desired for sustained release from one dose.</a:t>
            </a:r>
          </a:p>
          <a:p>
            <a:pPr marL="0" indent="0">
              <a:buNone/>
            </a:pPr>
            <a:r>
              <a:rPr lang="en-IN" sz="2400" b="1" dirty="0">
                <a:solidFill>
                  <a:schemeClr val="tx2"/>
                </a:solidFill>
              </a:rPr>
              <a:t>If </a:t>
            </a:r>
            <a:r>
              <a:rPr lang="en-IN" sz="2400" b="1" dirty="0">
                <a:solidFill>
                  <a:schemeClr val="accent1"/>
                </a:solidFill>
              </a:rPr>
              <a:t>maintenance</a:t>
            </a:r>
            <a:r>
              <a:rPr lang="en-IN" sz="2400" b="1" dirty="0">
                <a:solidFill>
                  <a:schemeClr val="tx2"/>
                </a:solidFill>
              </a:rPr>
              <a:t> </a:t>
            </a:r>
            <a:r>
              <a:rPr lang="en-IN" sz="2400" b="1" dirty="0">
                <a:solidFill>
                  <a:schemeClr val="accent1"/>
                </a:solidFill>
              </a:rPr>
              <a:t>dose</a:t>
            </a:r>
            <a:r>
              <a:rPr lang="en-IN" sz="2400" b="1" dirty="0">
                <a:solidFill>
                  <a:schemeClr val="tx2"/>
                </a:solidFill>
              </a:rPr>
              <a:t> </a:t>
            </a:r>
            <a:r>
              <a:rPr lang="en-IN" sz="2400" b="1" dirty="0">
                <a:solidFill>
                  <a:schemeClr val="accent1"/>
                </a:solidFill>
              </a:rPr>
              <a:t>begins to release</a:t>
            </a:r>
            <a:r>
              <a:rPr lang="en-IN" sz="2400" b="1" dirty="0">
                <a:solidFill>
                  <a:schemeClr val="tx2"/>
                </a:solidFill>
              </a:rPr>
              <a:t> the drug during dosing t= 0 then,</a:t>
            </a:r>
          </a:p>
          <a:p>
            <a:pPr marL="0" indent="0">
              <a:buNone/>
            </a:pPr>
            <a:r>
              <a:rPr lang="en-IN" sz="2400" b="1" dirty="0">
                <a:solidFill>
                  <a:schemeClr val="tx2"/>
                </a:solidFill>
              </a:rPr>
              <a:t>                                  </a:t>
            </a:r>
            <a:r>
              <a:rPr lang="en-IN" sz="2400" b="1" dirty="0">
                <a:solidFill>
                  <a:schemeClr val="accent1"/>
                </a:solidFill>
              </a:rPr>
              <a:t>W=Di+K°r Td-K°r . </a:t>
            </a:r>
            <a:r>
              <a:rPr lang="en-IN" sz="2400" b="1" dirty="0" err="1">
                <a:solidFill>
                  <a:schemeClr val="accent1"/>
                </a:solidFill>
              </a:rPr>
              <a:t>Tp</a:t>
            </a:r>
            <a:endParaRPr lang="en-IN" sz="24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IN" sz="2400" b="1" dirty="0" err="1">
                <a:solidFill>
                  <a:schemeClr val="accent1"/>
                </a:solidFill>
              </a:rPr>
              <a:t>Tp</a:t>
            </a:r>
            <a:r>
              <a:rPr lang="en-IN" sz="2400" b="1" dirty="0">
                <a:solidFill>
                  <a:schemeClr val="tx2"/>
                </a:solidFill>
              </a:rPr>
              <a:t> = time of peak drug level.</a:t>
            </a:r>
            <a:endParaRPr lang="en-US" sz="2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5126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679C2-E90E-225A-96CA-2D5CF8845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435BEC-08A8-17F4-A8D9-78181F419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6" y="2563371"/>
            <a:ext cx="8825659" cy="34163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chemeClr val="tx2"/>
                </a:solidFill>
              </a:rPr>
              <a:t>However a constant drug release can be obtained by
suitable combination of </a:t>
            </a:r>
            <a:r>
              <a:rPr lang="en-IN" sz="2400" b="1" dirty="0">
                <a:solidFill>
                  <a:schemeClr val="accent1"/>
                </a:solidFill>
              </a:rPr>
              <a:t>Di &amp; </a:t>
            </a:r>
            <a:r>
              <a:rPr lang="en-IN" sz="2400" b="1" dirty="0" err="1">
                <a:solidFill>
                  <a:schemeClr val="accent1"/>
                </a:solidFill>
              </a:rPr>
              <a:t>Dm</a:t>
            </a:r>
            <a:r>
              <a:rPr lang="en-IN" sz="2400" b="1" dirty="0">
                <a:solidFill>
                  <a:schemeClr val="tx2"/>
                </a:solidFill>
              </a:rPr>
              <a:t> that release the drug by first order process, then</a:t>
            </a:r>
          </a:p>
          <a:p>
            <a:pPr marL="0" indent="0">
              <a:buNone/>
            </a:pPr>
            <a:r>
              <a:rPr lang="en-IN" sz="2400" b="1" dirty="0">
                <a:solidFill>
                  <a:schemeClr val="tx2"/>
                </a:solidFill>
              </a:rPr>
              <a:t>                       </a:t>
            </a:r>
            <a:r>
              <a:rPr lang="en-IN" sz="2400" b="1" dirty="0">
                <a:solidFill>
                  <a:schemeClr val="accent1"/>
                </a:solidFill>
              </a:rPr>
              <a:t>W=Di+(Ke Cd/Kr)Vd.</a:t>
            </a:r>
          </a:p>
          <a:p>
            <a:pPr marL="0" indent="0">
              <a:buNone/>
            </a:pPr>
            <a:r>
              <a:rPr lang="en-IN" sz="2400" b="1" dirty="0">
                <a:solidFill>
                  <a:schemeClr val="tx2"/>
                </a:solidFill>
              </a:rPr>
              <a:t>Terminology Used in Modified Release Systems :</a:t>
            </a:r>
          </a:p>
          <a:p>
            <a:pPr marL="0" indent="0">
              <a:buNone/>
            </a:pPr>
            <a:r>
              <a:rPr lang="en-IN" sz="2400" b="1" dirty="0">
                <a:solidFill>
                  <a:schemeClr val="accent1"/>
                </a:solidFill>
              </a:rPr>
              <a:t>Sustained release , Sustained release, Sustained action, Prolonged action ,Controlled release ,Extended action, Time-release dosage forms.</a:t>
            </a:r>
            <a:endParaRPr lang="en-US" sz="2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48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59992-4DA7-8D5D-5010-5694B4946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8273B10-EB2E-CE56-F23D-8C4FA820C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501"/>
            <a:ext cx="8825659" cy="3416300"/>
          </a:xfrm>
        </p:spPr>
        <p:txBody>
          <a:bodyPr>
            <a:normAutofit/>
          </a:bodyPr>
          <a:lstStyle/>
          <a:p>
            <a:pPr algn="just"/>
            <a:r>
              <a:rPr lang="en-IN" sz="2400" b="1" dirty="0">
                <a:solidFill>
                  <a:schemeClr val="tx2"/>
                </a:solidFill>
              </a:rPr>
              <a:t>Designed to achieve prolonged therapeutic effect.</a:t>
            </a:r>
          </a:p>
          <a:p>
            <a:pPr algn="just"/>
            <a:r>
              <a:rPr lang="en-IN" sz="2400" b="1" dirty="0">
                <a:solidFill>
                  <a:schemeClr val="tx2"/>
                </a:solidFill>
              </a:rPr>
              <a:t>By continuous drug release after a single dose.</a:t>
            </a:r>
          </a:p>
          <a:p>
            <a:pPr marL="0" indent="0" algn="just">
              <a:buNone/>
            </a:pPr>
            <a:r>
              <a:rPr lang="en-IN" sz="2400" b="1" dirty="0">
                <a:solidFill>
                  <a:schemeClr val="tx2"/>
                </a:solidFill>
              </a:rPr>
              <a:t>In case of </a:t>
            </a:r>
            <a:r>
              <a:rPr lang="en-IN" sz="2400" b="1" dirty="0">
                <a:solidFill>
                  <a:schemeClr val="accent1"/>
                </a:solidFill>
              </a:rPr>
              <a:t>injectable</a:t>
            </a:r>
            <a:r>
              <a:rPr lang="en-IN" sz="2400" b="1" dirty="0">
                <a:solidFill>
                  <a:schemeClr val="tx2"/>
                </a:solidFill>
              </a:rPr>
              <a:t> </a:t>
            </a:r>
            <a:r>
              <a:rPr lang="en-IN" sz="2400" b="1" dirty="0">
                <a:solidFill>
                  <a:schemeClr val="accent1"/>
                </a:solidFill>
              </a:rPr>
              <a:t>dosage</a:t>
            </a:r>
            <a:r>
              <a:rPr lang="en-IN" sz="2400" b="1" dirty="0">
                <a:solidFill>
                  <a:schemeClr val="tx2"/>
                </a:solidFill>
              </a:rPr>
              <a:t> </a:t>
            </a:r>
            <a:r>
              <a:rPr lang="en-IN" sz="2400" b="1" dirty="0">
                <a:solidFill>
                  <a:schemeClr val="accent1"/>
                </a:solidFill>
              </a:rPr>
              <a:t>form</a:t>
            </a:r>
            <a:r>
              <a:rPr lang="en-IN" sz="2400" b="1" dirty="0">
                <a:solidFill>
                  <a:schemeClr val="tx2"/>
                </a:solidFill>
              </a:rPr>
              <a:t>, this period may vary from </a:t>
            </a:r>
            <a:r>
              <a:rPr lang="en-IN" sz="2400" b="1" dirty="0">
                <a:solidFill>
                  <a:schemeClr val="accent1"/>
                </a:solidFill>
              </a:rPr>
              <a:t>days</a:t>
            </a:r>
            <a:r>
              <a:rPr lang="en-IN" sz="2400" b="1" dirty="0">
                <a:solidFill>
                  <a:schemeClr val="tx2"/>
                </a:solidFill>
              </a:rPr>
              <a:t> </a:t>
            </a:r>
            <a:r>
              <a:rPr lang="en-IN" sz="2400" b="1" dirty="0">
                <a:solidFill>
                  <a:schemeClr val="accent1"/>
                </a:solidFill>
              </a:rPr>
              <a:t>to</a:t>
            </a:r>
            <a:r>
              <a:rPr lang="en-IN" sz="2400" b="1" dirty="0">
                <a:solidFill>
                  <a:schemeClr val="tx2"/>
                </a:solidFill>
              </a:rPr>
              <a:t> </a:t>
            </a:r>
            <a:r>
              <a:rPr lang="en-IN" sz="2400" b="1" dirty="0">
                <a:solidFill>
                  <a:schemeClr val="accent1"/>
                </a:solidFill>
              </a:rPr>
              <a:t>month</a:t>
            </a:r>
            <a:r>
              <a:rPr lang="en-IN" sz="2400" b="1" dirty="0">
                <a:solidFill>
                  <a:schemeClr val="tx2"/>
                </a:solidFill>
              </a:rPr>
              <a:t>, in case of </a:t>
            </a:r>
            <a:r>
              <a:rPr lang="en-IN" sz="2400" b="1" dirty="0">
                <a:solidFill>
                  <a:schemeClr val="accent1"/>
                </a:solidFill>
              </a:rPr>
              <a:t>orally</a:t>
            </a:r>
            <a:r>
              <a:rPr lang="en-IN" sz="2400" b="1" dirty="0">
                <a:solidFill>
                  <a:schemeClr val="tx2"/>
                </a:solidFill>
              </a:rPr>
              <a:t> </a:t>
            </a:r>
            <a:r>
              <a:rPr lang="en-IN" sz="2400" b="1" dirty="0">
                <a:solidFill>
                  <a:schemeClr val="accent1"/>
                </a:solidFill>
              </a:rPr>
              <a:t>administrated</a:t>
            </a:r>
            <a:r>
              <a:rPr lang="en-IN" sz="2400" b="1" dirty="0">
                <a:solidFill>
                  <a:schemeClr val="tx2"/>
                </a:solidFill>
              </a:rPr>
              <a:t> forms, however, this period is </a:t>
            </a:r>
            <a:r>
              <a:rPr lang="en-IN" sz="2400" b="1" dirty="0">
                <a:solidFill>
                  <a:schemeClr val="accent1"/>
                </a:solidFill>
              </a:rPr>
              <a:t>measured</a:t>
            </a:r>
            <a:r>
              <a:rPr lang="en-IN" sz="2400" b="1" dirty="0">
                <a:solidFill>
                  <a:schemeClr val="tx2"/>
                </a:solidFill>
              </a:rPr>
              <a:t> </a:t>
            </a:r>
            <a:r>
              <a:rPr lang="en-IN" sz="2400" b="1" dirty="0">
                <a:solidFill>
                  <a:schemeClr val="accent1"/>
                </a:solidFill>
              </a:rPr>
              <a:t>in</a:t>
            </a:r>
            <a:r>
              <a:rPr lang="en-IN" sz="2400" b="1" dirty="0">
                <a:solidFill>
                  <a:schemeClr val="tx2"/>
                </a:solidFill>
              </a:rPr>
              <a:t> </a:t>
            </a:r>
            <a:r>
              <a:rPr lang="en-IN" sz="2400" b="1" dirty="0">
                <a:solidFill>
                  <a:schemeClr val="accent1"/>
                </a:solidFill>
              </a:rPr>
              <a:t>hours</a:t>
            </a:r>
            <a:r>
              <a:rPr lang="en-IN" sz="2400" b="1" dirty="0">
                <a:solidFill>
                  <a:schemeClr val="tx2"/>
                </a:solidFill>
              </a:rPr>
              <a:t> &amp; critically depends on the residence time of the dosage form in GI tract.</a:t>
            </a:r>
            <a:endParaRPr lang="en-US" sz="2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5468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C3F58-6BF1-77C8-7E7A-A7D98A73E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3BD10-74EA-2B23-07E3-45AA0E41A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345779"/>
            <a:ext cx="8825659" cy="3416300"/>
          </a:xfrm>
        </p:spPr>
        <p:txBody>
          <a:bodyPr>
            <a:noAutofit/>
          </a:bodyPr>
          <a:lstStyle/>
          <a:p>
            <a:r>
              <a:rPr lang="en-IN" sz="2200" b="1" dirty="0"/>
              <a:t>In some case, control of drug therapy can be achieved’ taking advantage of </a:t>
            </a:r>
            <a:r>
              <a:rPr lang="en-IN" sz="2200" b="1" dirty="0">
                <a:solidFill>
                  <a:schemeClr val="accent1"/>
                </a:solidFill>
              </a:rPr>
              <a:t>beneficial</a:t>
            </a:r>
            <a:r>
              <a:rPr lang="en-IN" sz="2200" b="1" dirty="0"/>
              <a:t> </a:t>
            </a:r>
            <a:r>
              <a:rPr lang="en-IN" sz="2200" b="1" dirty="0">
                <a:solidFill>
                  <a:schemeClr val="accent1"/>
                </a:solidFill>
              </a:rPr>
              <a:t>drug</a:t>
            </a:r>
            <a:r>
              <a:rPr lang="en-IN" sz="2200" b="1" dirty="0"/>
              <a:t> </a:t>
            </a:r>
            <a:r>
              <a:rPr lang="en-IN" sz="2200" b="1" dirty="0">
                <a:solidFill>
                  <a:schemeClr val="accent1"/>
                </a:solidFill>
              </a:rPr>
              <a:t>interaction</a:t>
            </a:r>
            <a:r>
              <a:rPr lang="en-IN" sz="2200" b="1" dirty="0"/>
              <a:t> that affect disposition and elimination. E.g.:- the action of </a:t>
            </a:r>
            <a:r>
              <a:rPr lang="en-IN" sz="2200" b="1" dirty="0">
                <a:solidFill>
                  <a:schemeClr val="accent1"/>
                </a:solidFill>
              </a:rPr>
              <a:t>probenicid</a:t>
            </a:r>
            <a:r>
              <a:rPr lang="en-IN" sz="2200" b="1" dirty="0"/>
              <a:t>, which inhibit the </a:t>
            </a:r>
            <a:r>
              <a:rPr lang="en-IN" sz="2200" b="1" dirty="0">
                <a:solidFill>
                  <a:schemeClr val="accent1"/>
                </a:solidFill>
              </a:rPr>
              <a:t>excretion</a:t>
            </a:r>
            <a:r>
              <a:rPr lang="en-IN" sz="2200" b="1" dirty="0"/>
              <a:t> </a:t>
            </a:r>
            <a:r>
              <a:rPr lang="en-IN" sz="2200" b="1" dirty="0">
                <a:solidFill>
                  <a:schemeClr val="accent1"/>
                </a:solidFill>
              </a:rPr>
              <a:t>of</a:t>
            </a:r>
            <a:r>
              <a:rPr lang="en-IN" sz="2200" b="1" dirty="0"/>
              <a:t> </a:t>
            </a:r>
            <a:r>
              <a:rPr lang="en-IN" sz="2200" b="1" dirty="0">
                <a:solidFill>
                  <a:schemeClr val="accent1"/>
                </a:solidFill>
              </a:rPr>
              <a:t>penicillin</a:t>
            </a:r>
            <a:r>
              <a:rPr lang="en-IN" sz="2200" b="1" dirty="0"/>
              <a:t>, thus prolonging it’s blood level.</a:t>
            </a:r>
          </a:p>
          <a:p>
            <a:r>
              <a:rPr lang="en-IN" sz="2200" b="1" dirty="0"/>
              <a:t>Mixture of drug might be utilized to attend</a:t>
            </a:r>
            <a:r>
              <a:rPr lang="en-IN" sz="2200" b="1" dirty="0">
                <a:solidFill>
                  <a:schemeClr val="accent1"/>
                </a:solidFill>
              </a:rPr>
              <a:t>, synergize, or antagonize</a:t>
            </a:r>
            <a:r>
              <a:rPr lang="en-IN" sz="2200" b="1" dirty="0"/>
              <a:t> given drug action.</a:t>
            </a:r>
          </a:p>
          <a:p>
            <a:r>
              <a:rPr lang="en-IN" sz="2200" b="1" dirty="0"/>
              <a:t>Sustained release dosage form design embodies this approach to the control of action i.e. through a process </a:t>
            </a:r>
            <a:r>
              <a:rPr lang="en-IN" sz="2200" b="1" dirty="0">
                <a:solidFill>
                  <a:schemeClr val="accent1"/>
                </a:solidFill>
              </a:rPr>
              <a:t>of either drug modification, the absorption process</a:t>
            </a:r>
            <a:r>
              <a:rPr lang="en-IN" sz="2200" b="1" dirty="0"/>
              <a:t>, and subsequently drug action can be controlled</a:t>
            </a:r>
            <a:r>
              <a:rPr lang="en-IN" sz="2200" dirty="0"/>
              <a:t>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1567280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E395E-281E-AEEF-BA75-6F8A76DF9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Physicochemical factors influencing SRDDS </a:t>
            </a:r>
            <a:endParaRPr 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D5EC96C-3007-8235-0E45-C741C47F95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0968858"/>
              </p:ext>
            </p:extLst>
          </p:nvPr>
        </p:nvGraphicFramePr>
        <p:xfrm>
          <a:off x="513708" y="2382195"/>
          <a:ext cx="11178282" cy="3393037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726094">
                  <a:extLst>
                    <a:ext uri="{9D8B030D-6E8A-4147-A177-3AD203B41FA5}">
                      <a16:colId xmlns:a16="http://schemas.microsoft.com/office/drawing/2014/main" val="262683820"/>
                    </a:ext>
                  </a:extLst>
                </a:gridCol>
                <a:gridCol w="3726094">
                  <a:extLst>
                    <a:ext uri="{9D8B030D-6E8A-4147-A177-3AD203B41FA5}">
                      <a16:colId xmlns:a16="http://schemas.microsoft.com/office/drawing/2014/main" val="723933718"/>
                    </a:ext>
                  </a:extLst>
                </a:gridCol>
                <a:gridCol w="3726094">
                  <a:extLst>
                    <a:ext uri="{9D8B030D-6E8A-4147-A177-3AD203B41FA5}">
                      <a16:colId xmlns:a16="http://schemas.microsoft.com/office/drawing/2014/main" val="2238063515"/>
                    </a:ext>
                  </a:extLst>
                </a:gridCol>
              </a:tblGrid>
              <a:tr h="333037">
                <a:tc>
                  <a:txBody>
                    <a:bodyPr/>
                    <a:lstStyle/>
                    <a:p>
                      <a:r>
                        <a:rPr lang="en-IN" sz="1400" dirty="0"/>
                        <a:t>Factor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Preferred Property for SR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Impact on Formulation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6423199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r>
                        <a:rPr lang="en-IN" sz="1400" b="1" dirty="0"/>
                        <a:t>Aqueous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solubility</a:t>
                      </a:r>
                      <a:r>
                        <a:rPr lang="en-IN" sz="1400" dirty="0"/>
                        <a:t> </a:t>
                      </a:r>
                      <a:endParaRPr lang="en-IN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&gt;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0.1mg</a:t>
                      </a:r>
                      <a:r>
                        <a:rPr lang="en-IN" sz="1400" dirty="0"/>
                        <a:t>/</a:t>
                      </a:r>
                      <a:r>
                        <a:rPr lang="en-IN" sz="1400" b="1" dirty="0"/>
                        <a:t>mL</a:t>
                      </a:r>
                      <a:r>
                        <a:rPr lang="en-IN" sz="1400" dirty="0"/>
                        <a:t> (</a:t>
                      </a:r>
                      <a:r>
                        <a:rPr lang="en-IN" sz="1400" b="1" dirty="0"/>
                        <a:t>pH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1-7.8</a:t>
                      </a:r>
                      <a:r>
                        <a:rPr lang="en-IN" sz="1400" dirty="0"/>
                        <a:t>)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Too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low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causes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poor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bioavailability</a:t>
                      </a:r>
                      <a:r>
                        <a:rPr lang="en-IN" sz="1400" dirty="0"/>
                        <a:t>; </a:t>
                      </a:r>
                      <a:r>
                        <a:rPr lang="en-IN" sz="1400" b="1" dirty="0"/>
                        <a:t>too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high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makes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release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hard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to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control</a:t>
                      </a:r>
                      <a:r>
                        <a:rPr lang="en-IN" sz="1400" dirty="0"/>
                        <a:t>.</a:t>
                      </a: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93183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r>
                        <a:rPr lang="en-IN" sz="1400" b="1" dirty="0"/>
                        <a:t>Partition coefficient</a:t>
                      </a:r>
                      <a:r>
                        <a:rPr lang="en-IN" sz="1400" dirty="0"/>
                        <a:t> 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High (Lipophilic)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Higher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lipid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solubility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aids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diffusion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across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membrane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barriers</a:t>
                      </a:r>
                      <a:r>
                        <a:rPr lang="en-IN" sz="1400" dirty="0"/>
                        <a:t>.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046049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/>
                        <a:t>Molecular size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&lt; 1000 Daltons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Smaller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molecules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diffuse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faster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through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polymer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matrices</a:t>
                      </a:r>
                      <a:r>
                        <a:rPr lang="en-IN" sz="1400" dirty="0"/>
                        <a:t>.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4786537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r>
                        <a:rPr lang="en-IN" sz="1400" b="1" dirty="0"/>
                        <a:t>pKa and Ionisation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u="none" dirty="0"/>
                        <a:t>Unionized</a:t>
                      </a:r>
                      <a:r>
                        <a:rPr lang="en-IN" sz="1400" b="1" dirty="0"/>
                        <a:t> at </a:t>
                      </a:r>
                      <a:r>
                        <a:rPr lang="en-IN" sz="1400" b="1" dirty="0" err="1"/>
                        <a:t>Gl</a:t>
                      </a:r>
                      <a:r>
                        <a:rPr lang="en-IN" sz="1400" b="1" dirty="0"/>
                        <a:t> PH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Un-ionized forms pass through biological membranes more easily.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5667158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r>
                        <a:rPr lang="en-IN" sz="1400" b="1" u="none" dirty="0"/>
                        <a:t>Drug solubility </a:t>
                      </a:r>
                      <a:endParaRPr lang="en-US" sz="1400" b="1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Stable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in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 err="1"/>
                        <a:t>Gl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fluids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Unstable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drugs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(e.g., degraded by enzymes) are poor candidates.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3042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15220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D046B-6998-64B4-7A4D-C37CF12A5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Biological factors influencing SRDDS </a:t>
            </a:r>
            <a:endParaRPr 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66968768-66D9-854E-F5A5-A3A846CB40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0360703"/>
              </p:ext>
            </p:extLst>
          </p:nvPr>
        </p:nvGraphicFramePr>
        <p:xfrm>
          <a:off x="516276" y="2414426"/>
          <a:ext cx="11138900" cy="3607317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569450">
                  <a:extLst>
                    <a:ext uri="{9D8B030D-6E8A-4147-A177-3AD203B41FA5}">
                      <a16:colId xmlns:a16="http://schemas.microsoft.com/office/drawing/2014/main" val="3004403373"/>
                    </a:ext>
                  </a:extLst>
                </a:gridCol>
                <a:gridCol w="5569450">
                  <a:extLst>
                    <a:ext uri="{9D8B030D-6E8A-4147-A177-3AD203B41FA5}">
                      <a16:colId xmlns:a16="http://schemas.microsoft.com/office/drawing/2014/main" val="140781753"/>
                    </a:ext>
                  </a:extLst>
                </a:gridCol>
              </a:tblGrid>
              <a:tr h="367317">
                <a:tc>
                  <a:txBody>
                    <a:bodyPr/>
                    <a:lstStyle/>
                    <a:p>
                      <a:r>
                        <a:rPr lang="en-IN" sz="1400" dirty="0"/>
                        <a:t>Factors 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Impact on Sustained Release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603538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/>
                        <a:t>Biological Half-Life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/>
                        <a:t>Optimal</a:t>
                      </a:r>
                      <a:r>
                        <a:rPr lang="en-IN" sz="1400" dirty="0"/>
                        <a:t>: </a:t>
                      </a:r>
                      <a:r>
                        <a:rPr lang="en-IN" sz="1400" b="1" dirty="0"/>
                        <a:t>2-8 hrs; too short causes dosing issues; too long is unnecessary.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198472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/>
                        <a:t>Absorption Rate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/>
                        <a:t>Must be fast enough to avoid limitations in drug absorption.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827953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/>
                        <a:t>Metabolism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/>
                        <a:t>Extensive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metabolism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limits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effectiveness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and reduces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bioavailability</a:t>
                      </a:r>
                      <a:r>
                        <a:rPr lang="en-IN" sz="1400" dirty="0"/>
                        <a:t>.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7039279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/>
                        <a:t>Elimination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/>
                        <a:t>Rate must be balanced with release rate to maintain plasma levels.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918951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/>
                        <a:t>GI Residence Time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/>
                        <a:t>Longer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transit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improves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absorption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of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controlled-release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products</a:t>
                      </a:r>
                      <a:r>
                        <a:rPr lang="en-IN" sz="1400" dirty="0"/>
                        <a:t>.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3439027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/>
                        <a:t>Disease</a:t>
                      </a:r>
                      <a:r>
                        <a:rPr lang="en-IN" sz="1400" b="0" dirty="0"/>
                        <a:t> </a:t>
                      </a:r>
                      <a:r>
                        <a:rPr lang="en-IN" sz="1400" b="1" dirty="0"/>
                        <a:t>State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/>
                        <a:t>Alters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absorption</a:t>
                      </a:r>
                      <a:r>
                        <a:rPr lang="en-IN" sz="1400" dirty="0"/>
                        <a:t>/</a:t>
                      </a:r>
                      <a:r>
                        <a:rPr lang="en-IN" sz="1400" b="1" dirty="0"/>
                        <a:t>metabolism</a:t>
                      </a:r>
                      <a:r>
                        <a:rPr lang="en-IN" sz="1400" dirty="0"/>
                        <a:t>; </a:t>
                      </a:r>
                      <a:r>
                        <a:rPr lang="en-IN" sz="1400" b="1" dirty="0"/>
                        <a:t>can impact therapeutic outcomes.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69529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47194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3FC00-76B7-6D47-6CE8-29ED530B6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Physicochemical approaches for SRDDS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9DE25-9EDD-7485-4A8D-522498899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364661"/>
            <a:ext cx="8825659" cy="34163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u="sng" dirty="0">
                <a:solidFill>
                  <a:schemeClr val="accent1"/>
                </a:solidFill>
              </a:rPr>
              <a:t>A) </a:t>
            </a:r>
            <a:r>
              <a:rPr lang="en-IN" sz="2400" b="1" u="sng" dirty="0">
                <a:solidFill>
                  <a:schemeClr val="accent1"/>
                </a:solidFill>
              </a:rPr>
              <a:t>Dissolution controlled release system </a:t>
            </a:r>
            <a:r>
              <a:rPr lang="en-IN" sz="2400" b="1" dirty="0">
                <a:solidFill>
                  <a:schemeClr val="tx2"/>
                </a:solidFill>
              </a:rPr>
              <a:t> :</a:t>
            </a:r>
          </a:p>
          <a:p>
            <a:pPr marL="0" indent="0">
              <a:buNone/>
            </a:pPr>
            <a:r>
              <a:rPr lang="en-IN" sz="2400" b="1" dirty="0">
                <a:solidFill>
                  <a:schemeClr val="tx2"/>
                </a:solidFill>
              </a:rPr>
              <a:t>These system are most commonly employed in the production of enteric dosage forms. Drug present in the system having high aqueous solubility and dissolution rate </a:t>
            </a:r>
          </a:p>
          <a:p>
            <a:pPr marL="0" indent="0">
              <a:buNone/>
            </a:pPr>
            <a:r>
              <a:rPr lang="en-IN" sz="2400" b="1" dirty="0">
                <a:solidFill>
                  <a:schemeClr val="tx2"/>
                </a:solidFill>
              </a:rPr>
              <a:t>It is further divided into matrix and reservoir type dissolution controlled release system.</a:t>
            </a:r>
            <a:endParaRPr lang="en-IN" sz="2400" b="1" dirty="0">
              <a:solidFill>
                <a:schemeClr val="accent1"/>
              </a:solidFill>
            </a:endParaRPr>
          </a:p>
          <a:p>
            <a:r>
              <a:rPr lang="en-IN" sz="2400" b="1" dirty="0">
                <a:solidFill>
                  <a:schemeClr val="accent1"/>
                </a:solidFill>
              </a:rPr>
              <a:t> </a:t>
            </a:r>
            <a:r>
              <a:rPr lang="en-IN" sz="2400" b="1" u="sng" dirty="0">
                <a:solidFill>
                  <a:schemeClr val="accent1"/>
                </a:solidFill>
              </a:rPr>
              <a:t>Matrix system </a:t>
            </a:r>
            <a:r>
              <a:rPr lang="en-IN" sz="2400" b="1" dirty="0">
                <a:solidFill>
                  <a:schemeClr val="accent1"/>
                </a:solidFill>
              </a:rPr>
              <a:t> :</a:t>
            </a:r>
          </a:p>
          <a:p>
            <a:pPr marL="0" indent="0">
              <a:buNone/>
            </a:pPr>
            <a:r>
              <a:rPr lang="en-IN" sz="2400" b="1" dirty="0">
                <a:solidFill>
                  <a:schemeClr val="tx2"/>
                </a:solidFill>
              </a:rPr>
              <a:t>Matrix system are also called as monolithic since the drug is homogeneously dispersed throughout a rate-controlling medium.</a:t>
            </a:r>
          </a:p>
        </p:txBody>
      </p:sp>
    </p:spTree>
    <p:extLst>
      <p:ext uri="{BB962C8B-B14F-4D97-AF65-F5344CB8AC3E}">
        <p14:creationId xmlns:p14="http://schemas.microsoft.com/office/powerpoint/2010/main" val="2524953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D1636-769A-62D6-D1FE-87B6332F3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B9D84-8607-A09A-BD49-7561F6E73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3529" y="2344932"/>
            <a:ext cx="8761415" cy="3539400"/>
          </a:xfrm>
        </p:spPr>
        <p:txBody>
          <a:bodyPr anchor="ctr">
            <a:normAutofit fontScale="92500"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chemeClr val="tx2"/>
                </a:solidFill>
              </a:rPr>
              <a:t>e.g. Bees wax, Carnauba wax, Hydrogenated Castor oil .</a:t>
            </a:r>
          </a:p>
          <a:p>
            <a:pPr marL="0" indent="0">
              <a:buNone/>
            </a:pPr>
            <a:endParaRPr lang="en-IN" sz="24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2400" b="1" u="sng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IN" sz="2400" b="1" u="sng" dirty="0">
              <a:solidFill>
                <a:schemeClr val="accent1"/>
              </a:solidFill>
            </a:endParaRPr>
          </a:p>
          <a:p>
            <a:r>
              <a:rPr lang="en-IN" sz="2400" b="1" u="sng" dirty="0">
                <a:solidFill>
                  <a:schemeClr val="accent1"/>
                </a:solidFill>
              </a:rPr>
              <a:t>Reservoir system</a:t>
            </a:r>
            <a:r>
              <a:rPr lang="en-IN" sz="2400" b="1" dirty="0">
                <a:solidFill>
                  <a:schemeClr val="accent1"/>
                </a:solidFill>
              </a:rPr>
              <a:t> :</a:t>
            </a:r>
            <a:endParaRPr lang="en-IN" sz="2400" b="1" dirty="0">
              <a:solidFill>
                <a:schemeClr val="tx2"/>
              </a:solidFill>
            </a:endParaRPr>
          </a:p>
          <a:p>
            <a:pPr marL="3543211" lvl="8" indent="0" algn="ctr" rtl="1">
              <a:buNone/>
            </a:pPr>
            <a:r>
              <a:rPr lang="en-IN" sz="2400" b="1" dirty="0">
                <a:solidFill>
                  <a:schemeClr val="tx2"/>
                </a:solidFill>
              </a:rPr>
              <a:t>These system are hallow containing an inner core of drug surrounded in a water insoluble polymer membrane.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1BB74E-77D7-5FDF-37A5-3A95139CF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877" y="4753037"/>
            <a:ext cx="4974235" cy="16329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93E642-BDC1-3EF2-FA0B-642CEDBB7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6892" y="2732505"/>
            <a:ext cx="4718216" cy="1632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233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04301-F9BC-F1D0-0764-D82E8B6EA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4BC1E-CAD5-42E1-0FF3-F88C085D0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9105" y="2254745"/>
            <a:ext cx="8825659" cy="341630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B</a:t>
            </a:r>
            <a:r>
              <a:rPr lang="en-IN" sz="2400" b="1" dirty="0">
                <a:solidFill>
                  <a:schemeClr val="accent1"/>
                </a:solidFill>
              </a:rPr>
              <a:t>) </a:t>
            </a:r>
            <a:r>
              <a:rPr lang="en-IN" sz="2400" b="1" u="sng" dirty="0">
                <a:solidFill>
                  <a:schemeClr val="accent1"/>
                </a:solidFill>
              </a:rPr>
              <a:t>Ions exchange based SR formulations :</a:t>
            </a:r>
            <a:endParaRPr lang="en-IN" sz="2400" u="sng" dirty="0">
              <a:solidFill>
                <a:schemeClr val="tx2"/>
              </a:solidFill>
            </a:endParaRPr>
          </a:p>
          <a:p>
            <a:r>
              <a:rPr lang="en-IN" sz="2400" b="1" dirty="0">
                <a:solidFill>
                  <a:schemeClr val="tx2"/>
                </a:solidFill>
              </a:rPr>
              <a:t>Ion-exchange systems generally use resins composed of water-insoluble cross-linked polymers. These polymers contain salt-forming functional groups in repeating positions on the polymer chain.</a:t>
            </a:r>
          </a:p>
          <a:p>
            <a:r>
              <a:rPr lang="en-IN" sz="2400" b="1" dirty="0">
                <a:solidFill>
                  <a:schemeClr val="tx2"/>
                </a:solidFill>
              </a:rPr>
              <a:t>The drug is bound to the resin and released by exchanging with appropriately charged ions in contact with the ion-exchange groups.</a:t>
            </a:r>
          </a:p>
          <a:p>
            <a:endParaRPr lang="en-IN" sz="2400" b="1" dirty="0">
              <a:solidFill>
                <a:schemeClr val="accent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0E4980-0C4E-CCDC-619D-4CE68AF88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5075437"/>
            <a:ext cx="5619512" cy="1813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2221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563EC-D20D-9C72-2DEF-DCB63A190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956D3-25BC-0268-B572-D3A812A7F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468033"/>
            <a:ext cx="8825659" cy="34163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chemeClr val="accent1"/>
                </a:solidFill>
              </a:rPr>
              <a:t>C) </a:t>
            </a:r>
            <a:r>
              <a:rPr lang="en-IN" sz="2400" b="1" u="sng" dirty="0">
                <a:solidFill>
                  <a:schemeClr val="accent1"/>
                </a:solidFill>
              </a:rPr>
              <a:t>Diffusion controlled release system</a:t>
            </a:r>
            <a:r>
              <a:rPr lang="en-IN" sz="2400" b="1" dirty="0">
                <a:solidFill>
                  <a:schemeClr val="accent1"/>
                </a:solidFill>
              </a:rPr>
              <a:t> :</a:t>
            </a:r>
            <a:endParaRPr lang="en-IN" sz="24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IN" sz="2400" b="1" dirty="0">
                <a:solidFill>
                  <a:schemeClr val="tx2"/>
                </a:solidFill>
              </a:rPr>
              <a:t> Movement of drug molecules from a region of a higher concentration to one of lower concentration.</a:t>
            </a:r>
          </a:p>
          <a:p>
            <a:r>
              <a:rPr lang="en-IN" sz="2400" b="1" u="sng" dirty="0">
                <a:solidFill>
                  <a:schemeClr val="accent1"/>
                </a:solidFill>
              </a:rPr>
              <a:t>Matrix system</a:t>
            </a:r>
            <a:r>
              <a:rPr lang="en-IN" sz="2400" b="1" dirty="0">
                <a:solidFill>
                  <a:schemeClr val="accent1"/>
                </a:solidFill>
              </a:rPr>
              <a:t> :</a:t>
            </a:r>
          </a:p>
          <a:p>
            <a:pPr marL="0" indent="0">
              <a:buNone/>
            </a:pPr>
            <a:r>
              <a:rPr lang="en-IN" sz="2400" b="1" dirty="0">
                <a:solidFill>
                  <a:schemeClr val="tx2"/>
                </a:solidFill>
              </a:rPr>
              <a:t>The drug is dispersed in an insoluble </a:t>
            </a:r>
          </a:p>
          <a:p>
            <a:pPr marL="0" indent="0">
              <a:buNone/>
            </a:pPr>
            <a:r>
              <a:rPr lang="en-IN" sz="2400" b="1" dirty="0">
                <a:solidFill>
                  <a:schemeClr val="tx2"/>
                </a:solidFill>
              </a:rPr>
              <a:t>matrix of rigid nonswellable hydrophobic </a:t>
            </a:r>
          </a:p>
          <a:p>
            <a:pPr marL="0" indent="0">
              <a:buNone/>
            </a:pPr>
            <a:r>
              <a:rPr lang="en-IN" sz="2400" b="1" dirty="0">
                <a:solidFill>
                  <a:schemeClr val="tx2"/>
                </a:solidFill>
              </a:rPr>
              <a:t>materials or swellable hydrophilic </a:t>
            </a:r>
          </a:p>
          <a:p>
            <a:pPr marL="0" indent="0">
              <a:buNone/>
            </a:pPr>
            <a:r>
              <a:rPr lang="en-IN" sz="2400" b="1" dirty="0">
                <a:solidFill>
                  <a:schemeClr val="tx2"/>
                </a:solidFill>
              </a:rPr>
              <a:t>Substances.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8AEE18-207A-CFE9-85CA-91A80177B3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956" b="4280"/>
          <a:stretch>
            <a:fillRect/>
          </a:stretch>
        </p:blipFill>
        <p:spPr>
          <a:xfrm>
            <a:off x="7404050" y="3623314"/>
            <a:ext cx="4786764" cy="2261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8720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5B89A-8094-214E-667F-A5DE689C0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68BB5-63B8-563A-B35B-D5F3092B1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202478"/>
            <a:ext cx="6745872" cy="4482808"/>
          </a:xfrm>
        </p:spPr>
        <p:txBody>
          <a:bodyPr>
            <a:noAutofit/>
          </a:bodyPr>
          <a:lstStyle/>
          <a:p>
            <a:r>
              <a:rPr lang="en-IN" sz="2300" b="1" u="sng" dirty="0">
                <a:solidFill>
                  <a:schemeClr val="accent1"/>
                </a:solidFill>
              </a:rPr>
              <a:t>Reservoir system</a:t>
            </a:r>
            <a:r>
              <a:rPr lang="en-IN" sz="2300" b="1" dirty="0">
                <a:solidFill>
                  <a:schemeClr val="accent1"/>
                </a:solidFill>
              </a:rPr>
              <a:t> :</a:t>
            </a:r>
          </a:p>
          <a:p>
            <a:pPr marL="0" indent="0">
              <a:buNone/>
            </a:pPr>
            <a:r>
              <a:rPr lang="en-IN" sz="2300" b="1" dirty="0">
                <a:solidFill>
                  <a:schemeClr val="tx2"/>
                </a:solidFill>
              </a:rPr>
              <a:t>These systems are hollow containing </a:t>
            </a:r>
          </a:p>
          <a:p>
            <a:pPr marL="0" indent="0">
              <a:buNone/>
            </a:pPr>
            <a:r>
              <a:rPr lang="en-IN" sz="2300" b="1" dirty="0">
                <a:solidFill>
                  <a:schemeClr val="tx2"/>
                </a:solidFill>
              </a:rPr>
              <a:t>an inner core of drug surrounded in a water insoluble polymer membrane .</a:t>
            </a:r>
          </a:p>
          <a:p>
            <a:pPr marL="0" indent="0">
              <a:buNone/>
            </a:pPr>
            <a:r>
              <a:rPr lang="en-US" sz="2300" b="1" dirty="0">
                <a:solidFill>
                  <a:schemeClr val="accent1"/>
                </a:solidFill>
              </a:rPr>
              <a:t>D</a:t>
            </a:r>
            <a:r>
              <a:rPr lang="en-IN" sz="2300" b="1" dirty="0">
                <a:solidFill>
                  <a:schemeClr val="accent1"/>
                </a:solidFill>
              </a:rPr>
              <a:t>) </a:t>
            </a:r>
            <a:r>
              <a:rPr lang="en-IN" sz="2300" b="1" u="sng" dirty="0">
                <a:solidFill>
                  <a:schemeClr val="accent1"/>
                </a:solidFill>
              </a:rPr>
              <a:t>Osmotic pressure based SR formulations</a:t>
            </a:r>
            <a:r>
              <a:rPr lang="en-IN" sz="2300" b="1" dirty="0">
                <a:solidFill>
                  <a:schemeClr val="accent1"/>
                </a:solidFill>
              </a:rPr>
              <a:t> :</a:t>
            </a:r>
            <a:endParaRPr lang="en-IN" sz="23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IN" sz="2300" b="1" dirty="0">
                <a:solidFill>
                  <a:schemeClr val="tx2"/>
                </a:solidFill>
              </a:rPr>
              <a:t>In this system, the flow of liquid into the release unit driven by a difference in Osmotic pressure between the inside and outside of the release unit is used as the release- controlling process.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70AA97-47A4-73A8-4C07-5B5C7A91A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476" y="4311655"/>
            <a:ext cx="4370224" cy="23736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BB1A7F-613C-8F57-F64A-DA4CC13B88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640" r="4158" b="-2986"/>
          <a:stretch>
            <a:fillRect/>
          </a:stretch>
        </p:blipFill>
        <p:spPr>
          <a:xfrm>
            <a:off x="7266733" y="2402991"/>
            <a:ext cx="4701967" cy="1708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8658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61FD0BC-5C56-779A-E3F6-3F59E2C41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BA6A0-C77B-047D-C01E-984128FD9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u="sng" dirty="0">
                <a:solidFill>
                  <a:schemeClr val="accent1"/>
                </a:solidFill>
              </a:rPr>
              <a:t>E) pH Independent Based SR Formulations</a:t>
            </a:r>
            <a:r>
              <a:rPr lang="en-US" sz="2400" b="1" dirty="0">
                <a:solidFill>
                  <a:schemeClr val="tx2"/>
                </a:solidFill>
              </a:rPr>
              <a:t>:</a:t>
            </a:r>
          </a:p>
          <a:p>
            <a:r>
              <a:rPr lang="en-US" sz="2400" b="1" dirty="0">
                <a:solidFill>
                  <a:schemeClr val="tx2"/>
                </a:solidFill>
              </a:rPr>
              <a:t>These system are designed to eliminate the influence of GI pH on dissolution and absorption of drugs by formulating then with sufficient amount of buffering agents </a:t>
            </a:r>
            <a:r>
              <a:rPr lang="en-US" sz="2400" b="1" dirty="0" err="1">
                <a:solidFill>
                  <a:schemeClr val="tx2"/>
                </a:solidFill>
              </a:rPr>
              <a:t>i.e</a:t>
            </a:r>
            <a:r>
              <a:rPr lang="en-US" sz="2400" b="1" dirty="0">
                <a:solidFill>
                  <a:schemeClr val="tx2"/>
                </a:solidFill>
              </a:rPr>
              <a:t> salts of phosphoric, citric, or tartaric acids. </a:t>
            </a:r>
          </a:p>
          <a:p>
            <a:r>
              <a:rPr lang="en-US" sz="2400" b="1" dirty="0">
                <a:solidFill>
                  <a:schemeClr val="tx2"/>
                </a:solidFill>
              </a:rPr>
              <a:t>These helps to  adjust the pH to desired value as the dosage form passes along the GIT and permit drug dissolution and release at a constant rate independent of GI</a:t>
            </a:r>
            <a:r>
              <a:rPr lang="en-IN" sz="2400" b="1" dirty="0">
                <a:solidFill>
                  <a:schemeClr val="tx2"/>
                </a:solidFill>
              </a:rPr>
              <a:t> ph.</a:t>
            </a:r>
            <a:endParaRPr lang="en-US" sz="2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39370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D1AEFE3-AE6F-1D21-8BAE-D1E463D03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3CDBC-1A61-9C9D-F52C-F5A5AB8A9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u="sng" dirty="0">
                <a:solidFill>
                  <a:schemeClr val="accent1"/>
                </a:solidFill>
              </a:rPr>
              <a:t>F) Altered Density Based SR Formulations:</a:t>
            </a:r>
          </a:p>
          <a:p>
            <a:r>
              <a:rPr lang="en-US" sz="2400" b="1" dirty="0">
                <a:solidFill>
                  <a:schemeClr val="tx2"/>
                </a:solidFill>
              </a:rPr>
              <a:t>It is reasonable to expect that unless a delivery system </a:t>
            </a:r>
            <a:r>
              <a:rPr lang="en-IN" sz="2400" b="1" dirty="0">
                <a:solidFill>
                  <a:schemeClr val="tx2"/>
                </a:solidFill>
              </a:rPr>
              <a:t>remains </a:t>
            </a:r>
            <a:r>
              <a:rPr lang="en-US" sz="2400" b="1" dirty="0">
                <a:solidFill>
                  <a:schemeClr val="tx2"/>
                </a:solidFill>
              </a:rPr>
              <a:t>in the vicinity of the absorption site until most, if not all of drug contents is released, it would have limited utility. </a:t>
            </a:r>
          </a:p>
          <a:p>
            <a:r>
              <a:rPr lang="en-US" sz="2400" b="1" dirty="0">
                <a:solidFill>
                  <a:schemeClr val="tx2"/>
                </a:solidFill>
              </a:rPr>
              <a:t>To this end, several approaches have been developed to prolong the residence time of DDS in the GI tract.</a:t>
            </a:r>
          </a:p>
          <a:p>
            <a:pPr marL="685783" lvl="1"/>
            <a:r>
              <a:rPr lang="en-US" sz="2400" b="1" dirty="0">
                <a:solidFill>
                  <a:schemeClr val="accent1"/>
                </a:solidFill>
              </a:rPr>
              <a:t>High-density</a:t>
            </a:r>
            <a:r>
              <a:rPr lang="en-US" sz="2400" b="1" dirty="0">
                <a:solidFill>
                  <a:schemeClr val="tx2"/>
                </a:solidFill>
              </a:rPr>
              <a:t> approach</a:t>
            </a:r>
          </a:p>
          <a:p>
            <a:pPr marL="685783" lvl="1"/>
            <a:r>
              <a:rPr lang="en-US" sz="2400" b="1" dirty="0">
                <a:solidFill>
                  <a:schemeClr val="accent1"/>
                </a:solidFill>
              </a:rPr>
              <a:t>Low-density </a:t>
            </a:r>
            <a:r>
              <a:rPr lang="en-US" sz="2400" b="1" dirty="0">
                <a:solidFill>
                  <a:schemeClr val="tx2"/>
                </a:solidFill>
              </a:rPr>
              <a:t>approach</a:t>
            </a:r>
          </a:p>
        </p:txBody>
      </p:sp>
    </p:spTree>
    <p:extLst>
      <p:ext uri="{BB962C8B-B14F-4D97-AF65-F5344CB8AC3E}">
        <p14:creationId xmlns:p14="http://schemas.microsoft.com/office/powerpoint/2010/main" val="34110447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BA644-9D20-E8C2-2641-B906E090E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Biological Approaches For SRDDS: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A321E-346F-8DD7-9B9C-CAD90F00A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501"/>
            <a:ext cx="9151004" cy="4167623"/>
          </a:xfrm>
        </p:spPr>
        <p:txBody>
          <a:bodyPr>
            <a:noAutofit/>
          </a:bodyPr>
          <a:lstStyle/>
          <a:p>
            <a:r>
              <a:rPr lang="en-US" sz="2400" b="1" u="sng" dirty="0">
                <a:solidFill>
                  <a:schemeClr val="accent1"/>
                </a:solidFill>
              </a:rPr>
              <a:t>A) Bio- Polymers Based SR/CR Formulations</a:t>
            </a:r>
            <a:r>
              <a:rPr lang="en-US" sz="2400" b="1" dirty="0">
                <a:solidFill>
                  <a:schemeClr val="tx2"/>
                </a:solidFill>
              </a:rPr>
              <a:t>:</a:t>
            </a:r>
          </a:p>
          <a:p>
            <a:pPr marL="400041" lvl="1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Nanoparticles in </a:t>
            </a:r>
            <a:r>
              <a:rPr lang="en-US" sz="2400" b="1" dirty="0">
                <a:solidFill>
                  <a:schemeClr val="accent1"/>
                </a:solidFill>
              </a:rPr>
              <a:t>submicron</a:t>
            </a:r>
            <a:r>
              <a:rPr lang="en-US" sz="2400" b="1" dirty="0">
                <a:solidFill>
                  <a:schemeClr val="tx2"/>
                </a:solidFill>
              </a:rPr>
              <a:t> size range (</a:t>
            </a:r>
            <a:r>
              <a:rPr lang="en-US" sz="2400" b="1" dirty="0">
                <a:solidFill>
                  <a:schemeClr val="accent1"/>
                </a:solidFill>
              </a:rPr>
              <a:t>50-1000nm</a:t>
            </a:r>
            <a:r>
              <a:rPr lang="en-US" sz="2400" b="1" dirty="0">
                <a:solidFill>
                  <a:schemeClr val="tx2"/>
                </a:solidFill>
              </a:rPr>
              <a:t>) made f</a:t>
            </a:r>
            <a:r>
              <a:rPr lang="en-IN" sz="2400" b="1" dirty="0">
                <a:solidFill>
                  <a:schemeClr val="tx2"/>
                </a:solidFill>
              </a:rPr>
              <a:t>rom </a:t>
            </a:r>
            <a:r>
              <a:rPr lang="en-US" sz="2400" b="1" dirty="0">
                <a:solidFill>
                  <a:schemeClr val="accent1"/>
                </a:solidFill>
              </a:rPr>
              <a:t>biological</a:t>
            </a:r>
            <a:r>
              <a:rPr lang="en-US" sz="2400" b="1" dirty="0">
                <a:solidFill>
                  <a:schemeClr val="tx2"/>
                </a:solidFill>
              </a:rPr>
              <a:t>/</a:t>
            </a:r>
            <a:r>
              <a:rPr lang="en-US" sz="2400" b="1" dirty="0">
                <a:solidFill>
                  <a:schemeClr val="accent1"/>
                </a:solidFill>
              </a:rPr>
              <a:t>physiological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>
                <a:solidFill>
                  <a:schemeClr val="accent1"/>
                </a:solidFill>
              </a:rPr>
              <a:t>lipids</a:t>
            </a:r>
            <a:r>
              <a:rPr lang="en-US" sz="2400" b="1" dirty="0">
                <a:solidFill>
                  <a:schemeClr val="tx2"/>
                </a:solidFill>
              </a:rPr>
              <a:t> which are biodegradable are used as </a:t>
            </a:r>
            <a:r>
              <a:rPr lang="en-US" sz="2400" b="1" dirty="0">
                <a:solidFill>
                  <a:schemeClr val="accent1"/>
                </a:solidFill>
              </a:rPr>
              <a:t>colloidal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>
                <a:solidFill>
                  <a:schemeClr val="accent1"/>
                </a:solidFill>
              </a:rPr>
              <a:t>drug</a:t>
            </a:r>
            <a:r>
              <a:rPr lang="en-US" sz="2400" b="1" dirty="0">
                <a:solidFill>
                  <a:schemeClr val="tx2"/>
                </a:solidFill>
              </a:rPr>
              <a:t> carriers for </a:t>
            </a:r>
            <a:r>
              <a:rPr lang="en-IN" sz="2400" b="1" dirty="0">
                <a:solidFill>
                  <a:schemeClr val="tx2"/>
                </a:solidFill>
              </a:rPr>
              <a:t>I.V</a:t>
            </a:r>
            <a:r>
              <a:rPr lang="en-US" sz="2400" b="1" dirty="0">
                <a:solidFill>
                  <a:schemeClr val="tx2"/>
                </a:solidFill>
              </a:rPr>
              <a:t> application.
At room temperature the particles are in the solid state. </a:t>
            </a:r>
            <a:r>
              <a:rPr lang="en-US" sz="2400" b="1" dirty="0">
                <a:solidFill>
                  <a:schemeClr val="accent1"/>
                </a:solidFill>
              </a:rPr>
              <a:t>Therefore, the mobility of incorporated drugs is reduced</a:t>
            </a:r>
            <a:r>
              <a:rPr lang="en-US" sz="2400" b="1" dirty="0">
                <a:solidFill>
                  <a:schemeClr val="tx2"/>
                </a:solidFill>
              </a:rPr>
              <a:t>, which is a prerequisite for controlled drug release.</a:t>
            </a:r>
          </a:p>
          <a:p>
            <a:pPr marL="400041" lvl="1" indent="0">
              <a:buNone/>
            </a:pPr>
            <a:endParaRPr lang="en-US" sz="24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2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37830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02C4E-9085-9404-0174-A8674258C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B06F9-0CE2-3FA7-0B81-E518E58A1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185389"/>
            <a:ext cx="8825659" cy="3834411"/>
          </a:xfrm>
        </p:spPr>
        <p:txBody>
          <a:bodyPr>
            <a:noAutofit/>
          </a:bodyPr>
          <a:lstStyle/>
          <a:p>
            <a:pPr marL="400041" lvl="1" indent="0">
              <a:buNone/>
            </a:pPr>
            <a:endParaRPr lang="en-US" sz="2400" b="1" dirty="0">
              <a:solidFill>
                <a:schemeClr val="tx2"/>
              </a:solidFill>
            </a:endParaRPr>
          </a:p>
          <a:p>
            <a:r>
              <a:rPr lang="en-US" sz="2400" b="1" u="sng" dirty="0">
                <a:solidFill>
                  <a:schemeClr val="accent1"/>
                </a:solidFill>
              </a:rPr>
              <a:t>B) Pulse Based (Pulsatile) SR/CR Formulations:</a:t>
            </a:r>
          </a:p>
          <a:p>
            <a:pPr marL="400041" lvl="1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Those drug delivery system deliver the drug at specific time a</a:t>
            </a:r>
            <a:r>
              <a:rPr lang="en-IN" sz="2400" b="1" dirty="0">
                <a:solidFill>
                  <a:schemeClr val="tx2"/>
                </a:solidFill>
              </a:rPr>
              <a:t>a per patient </a:t>
            </a:r>
            <a:r>
              <a:rPr lang="en-US" sz="2400" b="1" dirty="0">
                <a:solidFill>
                  <a:schemeClr val="tx2"/>
                </a:solidFill>
              </a:rPr>
              <a:t>or pathophysiological need of the diseases, resulting unimproved patient therapeutic</a:t>
            </a:r>
            <a:r>
              <a:rPr lang="en-US" sz="2400" b="1" dirty="0">
                <a:solidFill>
                  <a:schemeClr val="accent1"/>
                </a:solidFill>
              </a:rPr>
              <a:t> efficacy and compliance.</a:t>
            </a:r>
          </a:p>
          <a:p>
            <a:pPr marL="400041" lvl="1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The drug release is controlled by the stimuli like the </a:t>
            </a:r>
            <a:r>
              <a:rPr lang="en-US" sz="2400" b="1" dirty="0">
                <a:solidFill>
                  <a:schemeClr val="accent1"/>
                </a:solidFill>
              </a:rPr>
              <a:t>biological pH or enzyme present in body or drug </a:t>
            </a:r>
            <a:r>
              <a:rPr lang="en-US" sz="2400" b="1" dirty="0">
                <a:solidFill>
                  <a:schemeClr val="tx2"/>
                </a:solidFill>
              </a:rPr>
              <a:t>delivery system.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76560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25E15-10DD-90F7-5486-65FCEC02A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4F05A-E9B5-8644-D398-334E8925A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75012"/>
            <a:ext cx="8825659" cy="3666197"/>
          </a:xfrm>
        </p:spPr>
        <p:txBody>
          <a:bodyPr anchor="t">
            <a:normAutofit/>
          </a:bodyPr>
          <a:lstStyle/>
          <a:p>
            <a:r>
              <a:rPr lang="en-US" sz="2400" b="1" u="sng" dirty="0">
                <a:solidFill>
                  <a:schemeClr val="accent1"/>
                </a:solidFill>
              </a:rPr>
              <a:t>C) Gastro retention based SR/CR Formulations:</a:t>
            </a:r>
          </a:p>
          <a:p>
            <a:pPr marL="400041" lvl="1" indent="0">
              <a:buNone/>
            </a:pPr>
            <a:endParaRPr lang="en-US" sz="2400" b="1" dirty="0">
              <a:solidFill>
                <a:schemeClr val="tx2"/>
              </a:solidFill>
            </a:endParaRPr>
          </a:p>
          <a:p>
            <a:pPr marL="400041" lvl="1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Gastro Retentive dosage forms (GRDFs) are a drug delivery formulation that are designed to be retained in the stomach for a prolonged time a. release there their active materials and thereby enable sustained and prolonged input of the drug to the upper part of the gastrointestinal (GI) tract.</a:t>
            </a:r>
          </a:p>
        </p:txBody>
      </p:sp>
    </p:spTree>
    <p:extLst>
      <p:ext uri="{BB962C8B-B14F-4D97-AF65-F5344CB8AC3E}">
        <p14:creationId xmlns:p14="http://schemas.microsoft.com/office/powerpoint/2010/main" val="5877221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AE381-C304-748F-2965-E8447F592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Application of SRDDS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98574-25EC-B2FB-014C-7E30FFD24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2"/>
                </a:solidFill>
              </a:rPr>
              <a:t>Application of SRDDS in following drug delivery system</a:t>
            </a:r>
          </a:p>
          <a:p>
            <a:pPr lvl="1" indent="-342891">
              <a:buFont typeface="+mj-lt"/>
              <a:buAutoNum type="arabicPeriod"/>
            </a:pPr>
            <a:r>
              <a:rPr lang="en-US" sz="2400" b="1" dirty="0">
                <a:solidFill>
                  <a:schemeClr val="tx2"/>
                </a:solidFill>
              </a:rPr>
              <a:t>Oral controlled drug delivery system</a:t>
            </a:r>
          </a:p>
          <a:p>
            <a:pPr lvl="1" indent="-342891">
              <a:buFont typeface="+mj-lt"/>
              <a:buAutoNum type="arabicPeriod"/>
            </a:pPr>
            <a:r>
              <a:rPr lang="en-IN" sz="2400" b="1" dirty="0">
                <a:solidFill>
                  <a:schemeClr val="tx2"/>
                </a:solidFill>
              </a:rPr>
              <a:t>Gastro retentive drug delivery system ( </a:t>
            </a:r>
            <a:r>
              <a:rPr lang="en-US" sz="2400" b="1" dirty="0">
                <a:solidFill>
                  <a:schemeClr val="tx2"/>
                </a:solidFill>
              </a:rPr>
              <a:t>GRDDS</a:t>
            </a:r>
            <a:r>
              <a:rPr lang="en-IN" sz="2400" b="1" dirty="0">
                <a:solidFill>
                  <a:schemeClr val="tx2"/>
                </a:solidFill>
              </a:rPr>
              <a:t>)</a:t>
            </a:r>
            <a:endParaRPr lang="en-US" sz="2400" b="1" dirty="0">
              <a:solidFill>
                <a:schemeClr val="tx2"/>
              </a:solidFill>
            </a:endParaRPr>
          </a:p>
          <a:p>
            <a:pPr lvl="1" indent="-342891">
              <a:buFont typeface="+mj-lt"/>
              <a:buAutoNum type="arabicPeriod"/>
            </a:pPr>
            <a:r>
              <a:rPr lang="en-US" sz="2400" b="1" dirty="0">
                <a:solidFill>
                  <a:schemeClr val="tx2"/>
                </a:solidFill>
              </a:rPr>
              <a:t>Ocular drug delivery system</a:t>
            </a:r>
            <a:r>
              <a:rPr lang="en-IN" sz="2400" b="1" dirty="0">
                <a:solidFill>
                  <a:schemeClr val="tx2"/>
                </a:solidFill>
              </a:rPr>
              <a:t> .</a:t>
            </a:r>
            <a:endParaRPr lang="en-US" sz="2400" b="1" dirty="0">
              <a:solidFill>
                <a:schemeClr val="tx2"/>
              </a:solidFill>
            </a:endParaRPr>
          </a:p>
          <a:p>
            <a:pPr lvl="1" indent="-342891">
              <a:buFont typeface="+mj-lt"/>
              <a:buAutoNum type="arabicPeriod"/>
            </a:pPr>
            <a:r>
              <a:rPr lang="en-US" sz="2400" b="1" dirty="0">
                <a:solidFill>
                  <a:schemeClr val="tx2"/>
                </a:solidFill>
              </a:rPr>
              <a:t>Transdermal drug delivery system</a:t>
            </a:r>
            <a:r>
              <a:rPr lang="en-IN" sz="2400" b="1" dirty="0">
                <a:solidFill>
                  <a:schemeClr val="tx2"/>
                </a:solidFill>
              </a:rPr>
              <a:t> (TDDDS).</a:t>
            </a:r>
            <a:endParaRPr lang="en-US" sz="2400" b="1" dirty="0">
              <a:solidFill>
                <a:schemeClr val="tx2"/>
              </a:solidFill>
            </a:endParaRPr>
          </a:p>
          <a:p>
            <a:pPr lvl="1" indent="-342891">
              <a:buFont typeface="+mj-lt"/>
              <a:buAutoNum type="arabicPeriod"/>
            </a:pPr>
            <a:r>
              <a:rPr lang="en-US" sz="2400" b="1" dirty="0">
                <a:solidFill>
                  <a:schemeClr val="tx2"/>
                </a:solidFill>
              </a:rPr>
              <a:t>Intestinal drug delivery system</a:t>
            </a:r>
            <a:r>
              <a:rPr lang="en-IN" sz="2400" b="1" dirty="0">
                <a:solidFill>
                  <a:schemeClr val="tx2"/>
                </a:solidFill>
              </a:rPr>
              <a:t>.</a:t>
            </a:r>
            <a:endParaRPr lang="en-US" sz="2400" b="1" dirty="0">
              <a:solidFill>
                <a:schemeClr val="tx2"/>
              </a:solidFill>
            </a:endParaRPr>
          </a:p>
          <a:p>
            <a:pPr lvl="1" indent="-342891">
              <a:buFont typeface="+mj-lt"/>
              <a:buAutoNum type="arabicPeriod"/>
            </a:pPr>
            <a:r>
              <a:rPr lang="en-US" sz="2400" b="1" dirty="0">
                <a:solidFill>
                  <a:schemeClr val="tx2"/>
                </a:solidFill>
              </a:rPr>
              <a:t>Colonic drug delivery system</a:t>
            </a:r>
            <a:r>
              <a:rPr lang="en-IN" sz="2400" b="1" dirty="0">
                <a:solidFill>
                  <a:schemeClr val="tx2"/>
                </a:solidFill>
              </a:rPr>
              <a:t>.</a:t>
            </a:r>
            <a:endParaRPr lang="en-US" sz="2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57382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3BAFE-93EA-E82D-5DFE-DA64AD30C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Advantages &amp; Disadvantages of SRDDS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8EC78BC-E51E-BF66-27E4-806390AEC8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5957838"/>
              </p:ext>
            </p:extLst>
          </p:nvPr>
        </p:nvGraphicFramePr>
        <p:xfrm>
          <a:off x="561275" y="2345739"/>
          <a:ext cx="11165784" cy="4078021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582892">
                  <a:extLst>
                    <a:ext uri="{9D8B030D-6E8A-4147-A177-3AD203B41FA5}">
                      <a16:colId xmlns:a16="http://schemas.microsoft.com/office/drawing/2014/main" val="990342385"/>
                    </a:ext>
                  </a:extLst>
                </a:gridCol>
                <a:gridCol w="5582892">
                  <a:extLst>
                    <a:ext uri="{9D8B030D-6E8A-4147-A177-3AD203B41FA5}">
                      <a16:colId xmlns:a16="http://schemas.microsoft.com/office/drawing/2014/main" val="3756668239"/>
                    </a:ext>
                  </a:extLst>
                </a:gridCol>
              </a:tblGrid>
              <a:tr h="406021"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buNone/>
                      </a:pPr>
                      <a:r>
                        <a:rPr lang="en-US" sz="1500" dirty="0"/>
                        <a:t>Advantages</a:t>
                      </a:r>
                      <a:endParaRPr 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7595" marR="77595" marT="38797" marB="387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buNone/>
                      </a:pPr>
                      <a:r>
                        <a:rPr lang="en-US" sz="1500" dirty="0"/>
                        <a:t>Disadvantages</a:t>
                      </a:r>
                      <a:endParaRPr 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7595" marR="77595" marT="38797" marB="387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834226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buNone/>
                      </a:pPr>
                      <a:r>
                        <a:rPr lang="en-US" sz="1500" b="1" dirty="0"/>
                        <a:t>Prolonged therapeutic</a:t>
                      </a:r>
                      <a:r>
                        <a:rPr lang="en-US" sz="1500" dirty="0"/>
                        <a:t> </a:t>
                      </a:r>
                      <a:r>
                        <a:rPr lang="en-US" sz="1500" b="1" dirty="0"/>
                        <a:t>effect</a:t>
                      </a:r>
                      <a:r>
                        <a:rPr lang="en-US" sz="1500" dirty="0"/>
                        <a:t> </a:t>
                      </a:r>
                      <a:r>
                        <a:rPr lang="en-US" sz="1500" b="1" dirty="0"/>
                        <a:t>&amp;</a:t>
                      </a:r>
                      <a:r>
                        <a:rPr lang="en-US" sz="1500" dirty="0"/>
                        <a:t> </a:t>
                      </a:r>
                      <a:r>
                        <a:rPr lang="en-US" sz="1500" b="1" dirty="0"/>
                        <a:t>uniform</a:t>
                      </a:r>
                      <a:r>
                        <a:rPr lang="en-US" sz="1500" dirty="0"/>
                        <a:t> </a:t>
                      </a:r>
                      <a:r>
                        <a:rPr lang="en-US" sz="1500" b="1" dirty="0"/>
                        <a:t>plasma drug concentration</a:t>
                      </a:r>
                      <a:r>
                        <a:rPr lang="en-US" sz="1500" dirty="0"/>
                        <a:t>.</a:t>
                      </a:r>
                      <a:endParaRPr 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7595" marR="77595" marT="38797" marB="387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buNone/>
                      </a:pPr>
                      <a:r>
                        <a:rPr lang="en-US" sz="1500" b="1" dirty="0"/>
                        <a:t>Delayed</a:t>
                      </a:r>
                      <a:r>
                        <a:rPr lang="en-US" sz="1500" dirty="0"/>
                        <a:t> </a:t>
                      </a:r>
                      <a:r>
                        <a:rPr lang="en-US" sz="1500" b="1" dirty="0"/>
                        <a:t>onset</a:t>
                      </a:r>
                      <a:r>
                        <a:rPr lang="en-US" sz="1500" dirty="0"/>
                        <a:t> </a:t>
                      </a:r>
                      <a:r>
                        <a:rPr lang="en-US" sz="1500" b="1" dirty="0"/>
                        <a:t>of</a:t>
                      </a:r>
                      <a:r>
                        <a:rPr lang="en-US" sz="1500" dirty="0"/>
                        <a:t> </a:t>
                      </a:r>
                      <a:r>
                        <a:rPr lang="en-US" sz="1500" b="1" dirty="0"/>
                        <a:t>action; not for drugs requiring</a:t>
                      </a:r>
                      <a:r>
                        <a:rPr lang="en-US" sz="1500" dirty="0"/>
                        <a:t> </a:t>
                      </a:r>
                      <a:r>
                        <a:rPr lang="en-US" sz="1500" b="1" dirty="0"/>
                        <a:t>rapid</a:t>
                      </a:r>
                      <a:r>
                        <a:rPr lang="en-US" sz="1500" dirty="0"/>
                        <a:t> </a:t>
                      </a:r>
                      <a:r>
                        <a:rPr lang="en-US" sz="1500" b="1" dirty="0"/>
                        <a:t>effect</a:t>
                      </a:r>
                      <a:r>
                        <a:rPr lang="en-US" sz="1500" dirty="0"/>
                        <a:t>.</a:t>
                      </a:r>
                      <a:endParaRPr 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7595" marR="77595" marT="38797" marB="387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342296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Improved compliance due to reduced dosing frequency.</a:t>
                      </a:r>
                    </a:p>
                  </a:txBody>
                  <a:tcPr marL="77595" marR="77595" marT="38797" marB="387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Difficult to adjust dose once the medication is administered.</a:t>
                      </a:r>
                    </a:p>
                  </a:txBody>
                  <a:tcPr marL="77595" marR="77595" marT="38797" marB="387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091467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Reduced</a:t>
                      </a:r>
                      <a:r>
                        <a:rPr lang="en-US" sz="1500" dirty="0"/>
                        <a:t> </a:t>
                      </a:r>
                      <a:r>
                        <a:rPr lang="en-US" sz="1500" b="1" dirty="0"/>
                        <a:t>peak-trough</a:t>
                      </a:r>
                      <a:r>
                        <a:rPr lang="en-US" sz="1500" dirty="0"/>
                        <a:t> </a:t>
                      </a:r>
                      <a:r>
                        <a:rPr lang="en-US" sz="1500" b="1" dirty="0"/>
                        <a:t>fluctuations</a:t>
                      </a:r>
                      <a:r>
                        <a:rPr lang="en-US" sz="1500" dirty="0"/>
                        <a:t>, </a:t>
                      </a:r>
                      <a:r>
                        <a:rPr lang="en-US" sz="1500" b="1" dirty="0"/>
                        <a:t>side</a:t>
                      </a:r>
                      <a:r>
                        <a:rPr lang="en-US" sz="1500" dirty="0"/>
                        <a:t> </a:t>
                      </a:r>
                      <a:r>
                        <a:rPr lang="en-US" sz="1500" b="1" dirty="0"/>
                        <a:t>effects</a:t>
                      </a:r>
                      <a:r>
                        <a:rPr lang="en-US" sz="1500" dirty="0"/>
                        <a:t>, </a:t>
                      </a:r>
                      <a:r>
                        <a:rPr lang="en-US" sz="1500" b="1" i="0" dirty="0"/>
                        <a:t>and</a:t>
                      </a:r>
                      <a:r>
                        <a:rPr lang="en-US" sz="1500" dirty="0"/>
                        <a:t> </a:t>
                      </a:r>
                      <a:r>
                        <a:rPr lang="en-US" sz="1500" b="1" dirty="0"/>
                        <a:t>toxicity</a:t>
                      </a:r>
                      <a:r>
                        <a:rPr lang="en-US" sz="1500" dirty="0"/>
                        <a:t>.</a:t>
                      </a:r>
                    </a:p>
                  </a:txBody>
                  <a:tcPr marL="77595" marR="77595" marT="38797" marB="387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Risk of "dose dumping" (premature release of entire dose).</a:t>
                      </a:r>
                    </a:p>
                  </a:txBody>
                  <a:tcPr marL="77595" marR="77595" marT="38797" marB="387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587604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Better drug utilization and reduced total drug dose.</a:t>
                      </a:r>
                    </a:p>
                  </a:txBody>
                  <a:tcPr marL="77595" marR="77595" marT="38797" marB="387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Absorption can be affected by gastric pH or GI motility.</a:t>
                      </a:r>
                    </a:p>
                  </a:txBody>
                  <a:tcPr marL="77595" marR="77595" marT="38797" marB="387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114708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Efficient long-term delivery systems.</a:t>
                      </a:r>
                    </a:p>
                  </a:txBody>
                  <a:tcPr marL="77595" marR="77595" marT="38797" marB="387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Higher formulation costs and complex manufacturing</a:t>
                      </a:r>
                      <a:r>
                        <a:rPr lang="en-US" sz="1500" dirty="0"/>
                        <a:t> </a:t>
                      </a:r>
                      <a:r>
                        <a:rPr lang="en-US" sz="1500" b="1" dirty="0"/>
                        <a:t>processes</a:t>
                      </a:r>
                      <a:r>
                        <a:rPr lang="en-US" sz="1500" dirty="0"/>
                        <a:t>.</a:t>
                      </a:r>
                    </a:p>
                  </a:txBody>
                  <a:tcPr marL="77595" marR="77595" marT="38797" marB="387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992926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Controlled, steady-state release.</a:t>
                      </a:r>
                    </a:p>
                  </a:txBody>
                  <a:tcPr marL="77595" marR="77595" marT="38797" marB="387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Possibility of incomplete drug release from the carrier.</a:t>
                      </a:r>
                    </a:p>
                  </a:txBody>
                  <a:tcPr marL="77595" marR="77595" marT="38797" marB="387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77095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43612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7BF35-10A0-AE56-4644-D971AA03C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IN" sz="3200" dirty="0"/>
              <a:t> </a:t>
            </a:r>
            <a:r>
              <a:rPr lang="en-IN" sz="3200" b="1" dirty="0"/>
              <a:t>Comparative Analysis of Different  release patterns in various delivery systems</a:t>
            </a:r>
            <a:endParaRPr lang="en-US" sz="3200" b="1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45AFA52-4B5E-88F7-E528-1DF54FEAB4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6907" y="2944815"/>
            <a:ext cx="4762500" cy="273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6096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E4B1A36-8316-49F0-3A1C-17DAB4CAE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Conventional RDDS  Vs Sustained RDDS  Vs controlled RDDS</a:t>
            </a:r>
            <a:endParaRPr lang="en-US" b="1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53DFC56-0449-DA0A-98AC-939B3BF9BE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4499146"/>
              </p:ext>
            </p:extLst>
          </p:nvPr>
        </p:nvGraphicFramePr>
        <p:xfrm>
          <a:off x="519860" y="2502785"/>
          <a:ext cx="11152280" cy="36000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788070">
                  <a:extLst>
                    <a:ext uri="{9D8B030D-6E8A-4147-A177-3AD203B41FA5}">
                      <a16:colId xmlns:a16="http://schemas.microsoft.com/office/drawing/2014/main" val="2293736742"/>
                    </a:ext>
                  </a:extLst>
                </a:gridCol>
                <a:gridCol w="2788070">
                  <a:extLst>
                    <a:ext uri="{9D8B030D-6E8A-4147-A177-3AD203B41FA5}">
                      <a16:colId xmlns:a16="http://schemas.microsoft.com/office/drawing/2014/main" val="3851705426"/>
                    </a:ext>
                  </a:extLst>
                </a:gridCol>
                <a:gridCol w="2788070">
                  <a:extLst>
                    <a:ext uri="{9D8B030D-6E8A-4147-A177-3AD203B41FA5}">
                      <a16:colId xmlns:a16="http://schemas.microsoft.com/office/drawing/2014/main" val="1990690697"/>
                    </a:ext>
                  </a:extLst>
                </a:gridCol>
                <a:gridCol w="2788070">
                  <a:extLst>
                    <a:ext uri="{9D8B030D-6E8A-4147-A177-3AD203B41FA5}">
                      <a16:colId xmlns:a16="http://schemas.microsoft.com/office/drawing/2014/main" val="145781241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lang="en-IN" sz="1400" dirty="0"/>
                        <a:t>Feature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Conventional (immediate)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Sustained release (SR)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Controlled release (CR)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9030158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r>
                        <a:rPr lang="en-IN" sz="1400" b="1" dirty="0"/>
                        <a:t>Primary goal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Fast onset of 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Extended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therapeutic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effect (8-12 hrs).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Constant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blood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levels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for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days</a:t>
                      </a:r>
                      <a:r>
                        <a:rPr lang="en-IN" sz="1400" dirty="0"/>
                        <a:t>/</a:t>
                      </a:r>
                      <a:r>
                        <a:rPr lang="en-IN" sz="1400" b="1" dirty="0"/>
                        <a:t>months</a:t>
                      </a:r>
                      <a:r>
                        <a:rPr lang="en-IN" sz="1400" dirty="0"/>
                        <a:t>.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8485313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r>
                        <a:rPr lang="en-IN" sz="1400" b="1" dirty="0"/>
                        <a:t>Release kinetics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First-order (Concentration dependent).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Primarily First-order.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Zero-order (Pre-designed/Constant rate</a:t>
                      </a:r>
                      <a:r>
                        <a:rPr lang="en-IN" sz="1400" dirty="0"/>
                        <a:t>).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8401156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r>
                        <a:rPr lang="en-IN" sz="1400" b="1" dirty="0"/>
                        <a:t>Dosing frequency </a:t>
                      </a: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High (e.g</a:t>
                      </a:r>
                      <a:r>
                        <a:rPr lang="en-IN" sz="1400" dirty="0"/>
                        <a:t>., </a:t>
                      </a:r>
                      <a:r>
                        <a:rPr lang="en-IN" sz="1400" b="1" dirty="0"/>
                        <a:t>TDS</a:t>
                      </a:r>
                      <a:r>
                        <a:rPr lang="en-IN" sz="1400" dirty="0"/>
                        <a:t>/</a:t>
                      </a:r>
                      <a:r>
                        <a:rPr lang="en-IN" sz="1400" b="1" dirty="0"/>
                        <a:t>QID).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Reduced (e.g., BD).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Minimal (e.g., OD or weekly).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5807914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r>
                        <a:rPr lang="en-IN" sz="1400" b="1" dirty="0"/>
                        <a:t>Complexity</a:t>
                      </a:r>
                      <a:r>
                        <a:rPr lang="en-IN" sz="1400" dirty="0"/>
                        <a:t> </a:t>
                      </a: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Low</a:t>
                      </a:r>
                      <a:r>
                        <a:rPr lang="en-IN" sz="1400" b="1" dirty="0"/>
                        <a:t> (Standard formulation).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Moderate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(Matrix</a:t>
                      </a:r>
                      <a:r>
                        <a:rPr lang="en-IN" sz="1400" dirty="0"/>
                        <a:t>/</a:t>
                      </a:r>
                      <a:r>
                        <a:rPr lang="en-IN" sz="1400" b="1" dirty="0"/>
                        <a:t>Coated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beads</a:t>
                      </a:r>
                      <a:r>
                        <a:rPr lang="en-IN" sz="1400" dirty="0"/>
                        <a:t>).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High</a:t>
                      </a:r>
                      <a:r>
                        <a:rPr lang="en-IN" sz="1400" dirty="0"/>
                        <a:t> (</a:t>
                      </a:r>
                      <a:r>
                        <a:rPr lang="en-IN" sz="1400" b="1" dirty="0"/>
                        <a:t>Osmotic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pumps</a:t>
                      </a:r>
                      <a:r>
                        <a:rPr lang="en-IN" sz="1400" dirty="0"/>
                        <a:t>/</a:t>
                      </a:r>
                      <a:r>
                        <a:rPr lang="en-IN" sz="1400" b="1" dirty="0"/>
                        <a:t>OROS).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0748584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r>
                        <a:rPr lang="en-IN" sz="1400" b="1" dirty="0"/>
                        <a:t>Example 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Aspirin Tablet.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Aspirin SR.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 err="1"/>
                        <a:t>Adalat</a:t>
                      </a: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CR (</a:t>
                      </a:r>
                      <a:r>
                        <a:rPr lang="en-IN" sz="1400" b="1" dirty="0" err="1"/>
                        <a:t>Nifedipine</a:t>
                      </a:r>
                      <a:r>
                        <a:rPr lang="en-IN" sz="1400" b="1" dirty="0"/>
                        <a:t>).</a:t>
                      </a:r>
                      <a:endParaRPr lang="en-US" sz="1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3661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46725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6F592-85EE-3AB7-237B-E64774A0C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>
                <a:solidFill>
                  <a:schemeClr val="bg1"/>
                </a:solidFill>
              </a:rPr>
              <a:t>Summary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15676B8-477D-72BE-1717-733F73322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6" y="2691830"/>
            <a:ext cx="9519893" cy="31925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/>
              <a:t>Sustained release, controlled release, extended release, and time-release dosage forms are designed to provide prolonged therapeutic effect.</a:t>
            </a:r>
            <a:br>
              <a:rPr lang="en-IN" sz="2000" b="1" dirty="0"/>
            </a:br>
            <a:r>
              <a:rPr lang="en-IN" sz="2000" b="1" dirty="0"/>
              <a:t>These systems continuously release the drug over an extended period after a single dose.</a:t>
            </a:r>
            <a:br>
              <a:rPr lang="en-IN" sz="2000" b="1" dirty="0"/>
            </a:br>
            <a:r>
              <a:rPr lang="en-IN" sz="2000" b="1" dirty="0"/>
              <a:t>They help in maintaining therapeutic drug levels and reducing dosing frequency.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6287222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2DEF9-5EB8-6291-6B51-E32F44538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E1AD2-C8D8-BD81-B022-DC310D256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1904" y="3429000"/>
            <a:ext cx="5988191" cy="13722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8000" b="1" dirty="0"/>
              <a:t>THANK YOU </a:t>
            </a:r>
            <a:endParaRPr lang="en-US" sz="8000" b="1" dirty="0"/>
          </a:p>
        </p:txBody>
      </p:sp>
    </p:spTree>
    <p:extLst>
      <p:ext uri="{BB962C8B-B14F-4D97-AF65-F5344CB8AC3E}">
        <p14:creationId xmlns:p14="http://schemas.microsoft.com/office/powerpoint/2010/main" val="22323854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32</TotalTime>
  <Words>2232</Words>
  <Application>Microsoft Office PowerPoint</Application>
  <PresentationFormat>Widescreen</PresentationFormat>
  <Paragraphs>225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Century Gothic</vt:lpstr>
      <vt:lpstr>Segoe UI</vt:lpstr>
      <vt:lpstr>Wingdings 3</vt:lpstr>
      <vt:lpstr>Ion Boardroom</vt:lpstr>
      <vt:lpstr>SUSTAINED RELEASE DRUG DELIVERY SYSTEM </vt:lpstr>
      <vt:lpstr>Contents:</vt:lpstr>
      <vt:lpstr>Contents :</vt:lpstr>
      <vt:lpstr>Previous year question asked on SRDDS</vt:lpstr>
      <vt:lpstr>Introduction </vt:lpstr>
      <vt:lpstr>Definition </vt:lpstr>
      <vt:lpstr>Objectives of sustained release system </vt:lpstr>
      <vt:lpstr>Ideal characteristics of drugs suitable for SRDDS </vt:lpstr>
      <vt:lpstr>Drug unsuitable for SRDDS </vt:lpstr>
      <vt:lpstr>Principle for SRDDS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Physicochemical factors influencing SRDDS </vt:lpstr>
      <vt:lpstr>Biological factors influencing SRDDS </vt:lpstr>
      <vt:lpstr>Physicochemical approaches for SRDDS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Biological Approaches For SRDDS:</vt:lpstr>
      <vt:lpstr>PowerPoint Presentation</vt:lpstr>
      <vt:lpstr>PowerPoint Presentation</vt:lpstr>
      <vt:lpstr>Application of SRDDS</vt:lpstr>
      <vt:lpstr>Advantages &amp; Disadvantages of SRDDS</vt:lpstr>
      <vt:lpstr> Comparative Analysis of Different  release patterns in various delivery systems</vt:lpstr>
      <vt:lpstr>Conventional RDDS  Vs Sustained RDDS  Vs controlled RDDS</vt:lpstr>
      <vt:lpstr>Summary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SUSTANED RELEASE DRUG DELIVERY SYSTEM </dc:title>
  <dc:creator>Manisha Pare</dc:creator>
  <cp:lastModifiedBy>Ravi3 Pare</cp:lastModifiedBy>
  <cp:revision>32</cp:revision>
  <dcterms:created xsi:type="dcterms:W3CDTF">2026-01-23T13:44:08Z</dcterms:created>
  <dcterms:modified xsi:type="dcterms:W3CDTF">2026-01-26T18:04:31Z</dcterms:modified>
</cp:coreProperties>
</file>